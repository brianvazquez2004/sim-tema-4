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4" r:id="rId6"/>
    <p:sldId id="265" r:id="rId7"/>
    <p:sldId id="260" r:id="rId8"/>
    <p:sldId id="261" r:id="rId9"/>
    <p:sldId id="262" r:id="rId10"/>
    <p:sldId id="266" r:id="rId11"/>
    <p:sldId id="267" r:id="rId12"/>
    <p:sldId id="268" r:id="rId13"/>
    <p:sldId id="269" r:id="rId14"/>
    <p:sldId id="270" r:id="rId15"/>
    <p:sldId id="271" r:id="rId16"/>
    <p:sldId id="272" r:id="rId17"/>
    <p:sldId id="263"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D1F9262-8124-4383-924A-EACEF7143AE2}" type="datetimeFigureOut">
              <a:rPr lang="es-MX" smtClean="0"/>
              <a:t>04/10/2026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1ECB250D-D23B-4F9B-9435-A2034133FF73}" type="slidenum">
              <a:rPr lang="es-MX" smtClean="0"/>
              <a:t>‹Nº›</a:t>
            </a:fld>
            <a:endParaRPr lang="es-MX"/>
          </a:p>
        </p:txBody>
      </p:sp>
    </p:spTree>
    <p:extLst>
      <p:ext uri="{BB962C8B-B14F-4D97-AF65-F5344CB8AC3E}">
        <p14:creationId xmlns:p14="http://schemas.microsoft.com/office/powerpoint/2010/main" val="3609025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D1F9262-8124-4383-924A-EACEF7143AE2}" type="datetimeFigureOut">
              <a:rPr lang="es-MX" smtClean="0"/>
              <a:t>04/10/2026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1ECB250D-D23B-4F9B-9435-A2034133FF73}" type="slidenum">
              <a:rPr lang="es-MX" smtClean="0"/>
              <a:t>‹Nº›</a:t>
            </a:fld>
            <a:endParaRPr lang="es-MX"/>
          </a:p>
        </p:txBody>
      </p:sp>
    </p:spTree>
    <p:extLst>
      <p:ext uri="{BB962C8B-B14F-4D97-AF65-F5344CB8AC3E}">
        <p14:creationId xmlns:p14="http://schemas.microsoft.com/office/powerpoint/2010/main" val="796450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8593667" y="6272784"/>
            <a:ext cx="2644309" cy="365125"/>
          </a:xfrm>
        </p:spPr>
        <p:txBody>
          <a:bodyPr/>
          <a:lstStyle/>
          <a:p>
            <a:fld id="{6D1F9262-8124-4383-924A-EACEF7143AE2}" type="datetimeFigureOut">
              <a:rPr lang="es-MX" smtClean="0"/>
              <a:t>04/10/2026</a:t>
            </a:fld>
            <a:endParaRPr lang="es-MX"/>
          </a:p>
        </p:txBody>
      </p:sp>
      <p:sp>
        <p:nvSpPr>
          <p:cNvPr id="5" name="Footer Placeholder 4"/>
          <p:cNvSpPr>
            <a:spLocks noGrp="1"/>
          </p:cNvSpPr>
          <p:nvPr>
            <p:ph type="ftr" sz="quarter" idx="11"/>
          </p:nvPr>
        </p:nvSpPr>
        <p:spPr>
          <a:xfrm>
            <a:off x="2182708" y="6272784"/>
            <a:ext cx="6327648" cy="365125"/>
          </a:xfrm>
        </p:spPr>
        <p:txBody>
          <a:bodyPr/>
          <a:lstStyle/>
          <a:p>
            <a:endParaRPr lang="es-MX"/>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1ECB250D-D23B-4F9B-9435-A2034133FF73}" type="slidenum">
              <a:rPr lang="es-MX" smtClean="0"/>
              <a:t>‹Nº›</a:t>
            </a:fld>
            <a:endParaRPr lang="es-MX"/>
          </a:p>
        </p:txBody>
      </p:sp>
    </p:spTree>
    <p:extLst>
      <p:ext uri="{BB962C8B-B14F-4D97-AF65-F5344CB8AC3E}">
        <p14:creationId xmlns:p14="http://schemas.microsoft.com/office/powerpoint/2010/main" val="3905347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1F9262-8124-4383-924A-EACEF7143AE2}" type="datetimeFigureOut">
              <a:rPr lang="es-MX" smtClean="0"/>
              <a:t>04/10/2026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1ECB250D-D23B-4F9B-9435-A2034133FF73}" type="slidenum">
              <a:rPr lang="es-MX" smtClean="0"/>
              <a:t>‹Nº›</a:t>
            </a:fld>
            <a:endParaRPr lang="es-MX"/>
          </a:p>
        </p:txBody>
      </p:sp>
    </p:spTree>
    <p:extLst>
      <p:ext uri="{BB962C8B-B14F-4D97-AF65-F5344CB8AC3E}">
        <p14:creationId xmlns:p14="http://schemas.microsoft.com/office/powerpoint/2010/main" val="2069903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D1F9262-8124-4383-924A-EACEF7143AE2}" type="datetimeFigureOut">
              <a:rPr lang="es-MX" smtClean="0"/>
              <a:t>04/10/2026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1ECB250D-D23B-4F9B-9435-A2034133FF73}" type="slidenum">
              <a:rPr lang="es-MX" smtClean="0"/>
              <a:t>‹Nº›</a:t>
            </a:fld>
            <a:endParaRPr lang="es-MX"/>
          </a:p>
        </p:txBody>
      </p:sp>
    </p:spTree>
    <p:extLst>
      <p:ext uri="{BB962C8B-B14F-4D97-AF65-F5344CB8AC3E}">
        <p14:creationId xmlns:p14="http://schemas.microsoft.com/office/powerpoint/2010/main" val="1433098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D1F9262-8124-4383-924A-EACEF7143AE2}" type="datetimeFigureOut">
              <a:rPr lang="es-MX" smtClean="0"/>
              <a:t>04/10/2026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1ECB250D-D23B-4F9B-9435-A2034133FF73}" type="slidenum">
              <a:rPr lang="es-MX" smtClean="0"/>
              <a:t>‹Nº›</a:t>
            </a:fld>
            <a:endParaRPr lang="es-MX"/>
          </a:p>
        </p:txBody>
      </p:sp>
    </p:spTree>
    <p:extLst>
      <p:ext uri="{BB962C8B-B14F-4D97-AF65-F5344CB8AC3E}">
        <p14:creationId xmlns:p14="http://schemas.microsoft.com/office/powerpoint/2010/main" val="2819822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1F9262-8124-4383-924A-EACEF7143AE2}" type="datetimeFigureOut">
              <a:rPr lang="es-MX" smtClean="0"/>
              <a:t>04/10/2026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1ECB250D-D23B-4F9B-9435-A2034133FF73}" type="slidenum">
              <a:rPr lang="es-MX" smtClean="0"/>
              <a:t>‹Nº›</a:t>
            </a:fld>
            <a:endParaRPr lang="es-MX"/>
          </a:p>
        </p:txBody>
      </p:sp>
    </p:spTree>
    <p:extLst>
      <p:ext uri="{BB962C8B-B14F-4D97-AF65-F5344CB8AC3E}">
        <p14:creationId xmlns:p14="http://schemas.microsoft.com/office/powerpoint/2010/main" val="156646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D1F9262-8124-4383-924A-EACEF7143AE2}" type="datetimeFigureOut">
              <a:rPr lang="es-MX" smtClean="0"/>
              <a:t>04/10/2026</a:t>
            </a:fld>
            <a:endParaRPr lang="es-MX"/>
          </a:p>
        </p:txBody>
      </p:sp>
      <p:sp>
        <p:nvSpPr>
          <p:cNvPr id="6" name="Footer Placeholder 5"/>
          <p:cNvSpPr>
            <a:spLocks noGrp="1"/>
          </p:cNvSpPr>
          <p:nvPr>
            <p:ph type="ftr" sz="quarter" idx="11"/>
          </p:nvPr>
        </p:nvSpPr>
        <p:spPr/>
        <p:txBody>
          <a:bodyPr/>
          <a:lstStyle/>
          <a:p>
            <a:endParaRPr lang="es-MX"/>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ECB250D-D23B-4F9B-9435-A2034133FF73}" type="slidenum">
              <a:rPr lang="es-MX" smtClean="0"/>
              <a:t>‹Nº›</a:t>
            </a:fld>
            <a:endParaRPr lang="es-MX"/>
          </a:p>
        </p:txBody>
      </p:sp>
    </p:spTree>
    <p:extLst>
      <p:ext uri="{BB962C8B-B14F-4D97-AF65-F5344CB8AC3E}">
        <p14:creationId xmlns:p14="http://schemas.microsoft.com/office/powerpoint/2010/main" val="4129081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D1F9262-8124-4383-924A-EACEF7143AE2}" type="datetimeFigureOut">
              <a:rPr lang="es-MX" smtClean="0"/>
              <a:t>04/10/2026</a:t>
            </a:fld>
            <a:endParaRPr lang="es-MX"/>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1ECB250D-D23B-4F9B-9435-A2034133FF73}" type="slidenum">
              <a:rPr lang="es-MX" smtClean="0"/>
              <a:t>‹Nº›</a:t>
            </a:fld>
            <a:endParaRPr lang="es-MX"/>
          </a:p>
        </p:txBody>
      </p:sp>
    </p:spTree>
    <p:extLst>
      <p:ext uri="{BB962C8B-B14F-4D97-AF65-F5344CB8AC3E}">
        <p14:creationId xmlns:p14="http://schemas.microsoft.com/office/powerpoint/2010/main" val="3823265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D1F9262-8124-4383-924A-EACEF7143AE2}" type="datetimeFigureOut">
              <a:rPr lang="es-MX" smtClean="0"/>
              <a:t>04/10/2026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1ECB250D-D23B-4F9B-9435-A2034133FF73}" type="slidenum">
              <a:rPr lang="es-MX" smtClean="0"/>
              <a:t>‹Nº›</a:t>
            </a:fld>
            <a:endParaRPr lang="es-MX"/>
          </a:p>
        </p:txBody>
      </p:sp>
    </p:spTree>
    <p:extLst>
      <p:ext uri="{BB962C8B-B14F-4D97-AF65-F5344CB8AC3E}">
        <p14:creationId xmlns:p14="http://schemas.microsoft.com/office/powerpoint/2010/main" val="116110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D1F9262-8124-4383-924A-EACEF7143AE2}" type="datetimeFigureOut">
              <a:rPr lang="es-MX" smtClean="0"/>
              <a:t>04/10/2026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1ECB250D-D23B-4F9B-9435-A2034133FF73}" type="slidenum">
              <a:rPr lang="es-MX" smtClean="0"/>
              <a:t>‹Nº›</a:t>
            </a:fld>
            <a:endParaRPr lang="es-MX"/>
          </a:p>
        </p:txBody>
      </p:sp>
    </p:spTree>
    <p:extLst>
      <p:ext uri="{BB962C8B-B14F-4D97-AF65-F5344CB8AC3E}">
        <p14:creationId xmlns:p14="http://schemas.microsoft.com/office/powerpoint/2010/main" val="3100638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D1F9262-8124-4383-924A-EACEF7143AE2}" type="datetimeFigureOut">
              <a:rPr lang="es-MX" smtClean="0"/>
              <a:t>04/10/2026</a:t>
            </a:fld>
            <a:endParaRPr lang="es-MX"/>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s-MX"/>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1ECB250D-D23B-4F9B-9435-A2034133FF73}" type="slidenum">
              <a:rPr lang="es-MX" smtClean="0"/>
              <a:t>‹Nº›</a:t>
            </a:fld>
            <a:endParaRPr lang="es-MX"/>
          </a:p>
        </p:txBody>
      </p:sp>
    </p:spTree>
    <p:extLst>
      <p:ext uri="{BB962C8B-B14F-4D97-AF65-F5344CB8AC3E}">
        <p14:creationId xmlns:p14="http://schemas.microsoft.com/office/powerpoint/2010/main" val="1871155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891B317-C726-446D-9650-DDA425E5ECA9}"/>
              </a:ext>
            </a:extLst>
          </p:cNvPr>
          <p:cNvSpPr txBox="1"/>
          <p:nvPr/>
        </p:nvSpPr>
        <p:spPr>
          <a:xfrm>
            <a:off x="3143250" y="889843"/>
            <a:ext cx="6096000" cy="5355312"/>
          </a:xfrm>
          <a:prstGeom prst="rect">
            <a:avLst/>
          </a:prstGeom>
          <a:noFill/>
        </p:spPr>
        <p:txBody>
          <a:bodyPr wrap="square">
            <a:spAutoFit/>
          </a:bodyPr>
          <a:lstStyle/>
          <a:p>
            <a:pPr algn="ctr"/>
            <a:r>
              <a:rPr lang="es-MX" sz="1800" dirty="0">
                <a:latin typeface="Arial" panose="020B0604020202020204" pitchFamily="34" charset="0"/>
                <a:cs typeface="Arial" panose="020B0604020202020204" pitchFamily="34" charset="0"/>
              </a:rPr>
              <a:t>Instituto Tecnológico de Frontera Comalapa</a:t>
            </a:r>
          </a:p>
          <a:p>
            <a:pPr algn="ctr"/>
            <a:endParaRPr lang="es-MX" sz="1800" dirty="0">
              <a:latin typeface="Arial" panose="020B0604020202020204" pitchFamily="34" charset="0"/>
              <a:cs typeface="Arial" panose="020B0604020202020204" pitchFamily="34" charset="0"/>
            </a:endParaRPr>
          </a:p>
          <a:p>
            <a:pPr algn="ctr"/>
            <a:r>
              <a:rPr lang="es-MX" sz="1800" dirty="0">
                <a:latin typeface="Arial" panose="020B0604020202020204" pitchFamily="34" charset="0"/>
                <a:cs typeface="Arial" panose="020B0604020202020204" pitchFamily="34" charset="0"/>
              </a:rPr>
              <a:t>Modalidad Mixta</a:t>
            </a:r>
          </a:p>
          <a:p>
            <a:pPr algn="ctr"/>
            <a:endParaRPr lang="es-MX" sz="1800" dirty="0">
              <a:latin typeface="Arial" panose="020B0604020202020204" pitchFamily="34" charset="0"/>
              <a:cs typeface="Arial" panose="020B0604020202020204" pitchFamily="34" charset="0"/>
            </a:endParaRPr>
          </a:p>
          <a:p>
            <a:pPr algn="ctr"/>
            <a:r>
              <a:rPr lang="es-MX" sz="1800" dirty="0">
                <a:latin typeface="Arial" panose="020B0604020202020204" pitchFamily="34" charset="0"/>
                <a:cs typeface="Arial" panose="020B0604020202020204" pitchFamily="34" charset="0"/>
              </a:rPr>
              <a:t>Materia: Simulación</a:t>
            </a:r>
          </a:p>
          <a:p>
            <a:pPr algn="ctr"/>
            <a:endParaRPr lang="es-MX" sz="1800" dirty="0">
              <a:latin typeface="Arial" panose="020B0604020202020204" pitchFamily="34" charset="0"/>
              <a:cs typeface="Arial" panose="020B0604020202020204" pitchFamily="34" charset="0"/>
            </a:endParaRPr>
          </a:p>
          <a:p>
            <a:pPr algn="ctr"/>
            <a:r>
              <a:rPr lang="es-MX" sz="1800" dirty="0">
                <a:latin typeface="Arial" panose="020B0604020202020204" pitchFamily="34" charset="0"/>
                <a:cs typeface="Arial" panose="020B0604020202020204" pitchFamily="34" charset="0"/>
              </a:rPr>
              <a:t>Semestre: 5            		Modulo: 1</a:t>
            </a:r>
          </a:p>
          <a:p>
            <a:pPr algn="ctr"/>
            <a:endParaRPr lang="es-MX" sz="1800" dirty="0">
              <a:latin typeface="Arial" panose="020B0604020202020204" pitchFamily="34" charset="0"/>
              <a:cs typeface="Arial" panose="020B0604020202020204" pitchFamily="34" charset="0"/>
            </a:endParaRPr>
          </a:p>
          <a:p>
            <a:pPr algn="ctr"/>
            <a:r>
              <a:rPr lang="es-MX" sz="1800" dirty="0">
                <a:latin typeface="Arial" panose="020B0604020202020204" pitchFamily="34" charset="0"/>
                <a:cs typeface="Arial" panose="020B0604020202020204" pitchFamily="34" charset="0"/>
              </a:rPr>
              <a:t>Especialidad: Ingeniería en Sistemas Computacionales.</a:t>
            </a:r>
          </a:p>
          <a:p>
            <a:pPr algn="ctr"/>
            <a:endParaRPr lang="es-MX" sz="1800" dirty="0">
              <a:latin typeface="Arial" panose="020B0604020202020204" pitchFamily="34" charset="0"/>
              <a:cs typeface="Arial" panose="020B0604020202020204" pitchFamily="34" charset="0"/>
            </a:endParaRPr>
          </a:p>
          <a:p>
            <a:pPr algn="ctr"/>
            <a:r>
              <a:rPr lang="es-MX" sz="1800" dirty="0">
                <a:latin typeface="Arial" panose="020B0604020202020204" pitchFamily="34" charset="0"/>
                <a:cs typeface="Arial" panose="020B0604020202020204" pitchFamily="34" charset="0"/>
              </a:rPr>
              <a:t>Numero de control: 241260008</a:t>
            </a:r>
          </a:p>
          <a:p>
            <a:pPr algn="ctr"/>
            <a:endParaRPr lang="es-MX" sz="1800" dirty="0">
              <a:latin typeface="Arial" panose="020B0604020202020204" pitchFamily="34" charset="0"/>
              <a:cs typeface="Arial" panose="020B0604020202020204" pitchFamily="34" charset="0"/>
            </a:endParaRPr>
          </a:p>
          <a:p>
            <a:pPr algn="ctr"/>
            <a:r>
              <a:rPr lang="es-MX" sz="1800" dirty="0">
                <a:latin typeface="Arial" panose="020B0604020202020204" pitchFamily="34" charset="0"/>
                <a:cs typeface="Arial" panose="020B0604020202020204" pitchFamily="34" charset="0"/>
              </a:rPr>
              <a:t>Alumno: Brian Ismael Vazquez Monzon</a:t>
            </a:r>
          </a:p>
          <a:p>
            <a:pPr algn="ctr"/>
            <a:endParaRPr lang="es-MX" sz="1800" dirty="0">
              <a:latin typeface="Arial" panose="020B0604020202020204" pitchFamily="34" charset="0"/>
              <a:cs typeface="Arial" panose="020B0604020202020204" pitchFamily="34" charset="0"/>
            </a:endParaRPr>
          </a:p>
          <a:p>
            <a:pPr algn="ctr"/>
            <a:r>
              <a:rPr lang="es-MX" sz="1800" dirty="0">
                <a:latin typeface="Arial" panose="020B0604020202020204" pitchFamily="34" charset="0"/>
                <a:cs typeface="Arial" panose="020B0604020202020204" pitchFamily="34" charset="0"/>
              </a:rPr>
              <a:t>Docente: Francisco Javier Mingo Velázquez</a:t>
            </a:r>
          </a:p>
          <a:p>
            <a:pPr algn="ctr"/>
            <a:endParaRPr lang="es-MX" sz="1800" dirty="0">
              <a:latin typeface="Arial" panose="020B0604020202020204" pitchFamily="34" charset="0"/>
              <a:cs typeface="Arial" panose="020B0604020202020204" pitchFamily="34" charset="0"/>
            </a:endParaRPr>
          </a:p>
          <a:p>
            <a:pPr algn="ctr"/>
            <a:r>
              <a:rPr lang="es-MX" sz="1800" dirty="0">
                <a:latin typeface="Arial" panose="020B0604020202020204" pitchFamily="34" charset="0"/>
                <a:cs typeface="Arial" panose="020B0604020202020204" pitchFamily="34" charset="0"/>
              </a:rPr>
              <a:t>Nombre del trabajo: 4</a:t>
            </a:r>
            <a:r>
              <a:rPr lang="es-MX" dirty="0">
                <a:latin typeface="Arial" panose="020B0604020202020204" pitchFamily="34" charset="0"/>
                <a:cs typeface="Arial" panose="020B0604020202020204" pitchFamily="34" charset="0"/>
              </a:rPr>
              <a:t>.2 Reporte de Practica</a:t>
            </a:r>
          </a:p>
          <a:p>
            <a:pPr algn="ctr"/>
            <a:endParaRPr lang="es-MX" sz="1800" dirty="0">
              <a:latin typeface="Arial" panose="020B0604020202020204" pitchFamily="34" charset="0"/>
              <a:cs typeface="Arial" panose="020B0604020202020204" pitchFamily="34" charset="0"/>
            </a:endParaRPr>
          </a:p>
          <a:p>
            <a:pPr algn="ctr"/>
            <a:r>
              <a:rPr lang="es-MX" sz="1800" dirty="0">
                <a:latin typeface="Arial" panose="020B0604020202020204" pitchFamily="34" charset="0"/>
                <a:cs typeface="Arial" panose="020B0604020202020204" pitchFamily="34" charset="0"/>
              </a:rPr>
              <a:t>Frontera Comalapa, Chiapas a 29 de septiembre del 2026</a:t>
            </a:r>
          </a:p>
        </p:txBody>
      </p:sp>
      <p:pic>
        <p:nvPicPr>
          <p:cNvPr id="5" name="Picture 4" descr="Logos Oficiales – Tecnológico Nacional de México">
            <a:extLst>
              <a:ext uri="{FF2B5EF4-FFF2-40B4-BE49-F238E27FC236}">
                <a16:creationId xmlns:a16="http://schemas.microsoft.com/office/drawing/2014/main" id="{A0D6B30F-CBB3-4EDF-B2E5-95BF060AFF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45" y="1229856"/>
            <a:ext cx="48768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0BDBDA8F-881A-4613-927E-EFCB1E8FE976}"/>
              </a:ext>
            </a:extLst>
          </p:cNvPr>
          <p:cNvPicPr/>
          <p:nvPr/>
        </p:nvPicPr>
        <p:blipFill rotWithShape="1">
          <a:blip r:embed="rId3" cstate="print">
            <a:extLst>
              <a:ext uri="{28A0092B-C50C-407E-A947-70E740481C1C}">
                <a14:useLocalDpi xmlns:a14="http://schemas.microsoft.com/office/drawing/2010/main" val="0"/>
              </a:ext>
            </a:extLst>
          </a:blip>
          <a:srcRect l="905" t="8280" b="-1"/>
          <a:stretch/>
        </p:blipFill>
        <p:spPr bwMode="auto">
          <a:xfrm>
            <a:off x="2954196" y="0"/>
            <a:ext cx="5561330" cy="63309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45108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3DD8D4-ADA0-4091-82F4-18F22D024993}"/>
              </a:ext>
            </a:extLst>
          </p:cNvPr>
          <p:cNvSpPr>
            <a:spLocks noGrp="1"/>
          </p:cNvSpPr>
          <p:nvPr>
            <p:ph type="title"/>
          </p:nvPr>
        </p:nvSpPr>
        <p:spPr/>
        <p:txBody>
          <a:bodyPr/>
          <a:lstStyle/>
          <a:p>
            <a:r>
              <a:rPr lang="es-MX" dirty="0"/>
              <a:t>Introducción</a:t>
            </a:r>
            <a:br>
              <a:rPr lang="es-MX" dirty="0"/>
            </a:br>
            <a:endParaRPr lang="es-MX" dirty="0"/>
          </a:p>
        </p:txBody>
      </p:sp>
      <p:sp>
        <p:nvSpPr>
          <p:cNvPr id="3" name="Marcador de contenido 2">
            <a:extLst>
              <a:ext uri="{FF2B5EF4-FFF2-40B4-BE49-F238E27FC236}">
                <a16:creationId xmlns:a16="http://schemas.microsoft.com/office/drawing/2014/main" id="{EA919356-FF39-4781-A608-FA8A04830293}"/>
              </a:ext>
            </a:extLst>
          </p:cNvPr>
          <p:cNvSpPr>
            <a:spLocks noGrp="1"/>
          </p:cNvSpPr>
          <p:nvPr>
            <p:ph idx="1"/>
          </p:nvPr>
        </p:nvSpPr>
        <p:spPr/>
        <p:txBody>
          <a:bodyPr/>
          <a:lstStyle/>
          <a:p>
            <a:pPr algn="just"/>
            <a:r>
              <a:rPr lang="es-MX" dirty="0">
                <a:latin typeface="Arial" panose="020B0604020202020204" pitchFamily="34" charset="0"/>
                <a:cs typeface="Arial" panose="020B0604020202020204" pitchFamily="34" charset="0"/>
              </a:rPr>
              <a:t>En este trabajo presentamos el desarrollo de distintas prácticas de simulación enfocado en temas como líneas de espera, inventarios, pruebas paramétricas y reportes de resultados. Para comparar cómo funciona cada herramienta, llevamos a cabo las implementaciones usando Java, Python y </a:t>
            </a:r>
            <a:r>
              <a:rPr lang="es-MX" dirty="0" err="1">
                <a:latin typeface="Arial" panose="020B0604020202020204" pitchFamily="34" charset="0"/>
                <a:cs typeface="Arial" panose="020B0604020202020204" pitchFamily="34" charset="0"/>
              </a:rPr>
              <a:t>RStudio</a:t>
            </a:r>
            <a:r>
              <a:rPr lang="es-MX"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84234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450803-8931-4E7D-AA81-28438366C2F5}"/>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67290E87-2B06-41FB-9D14-4456E88EFACB}"/>
              </a:ext>
            </a:extLst>
          </p:cNvPr>
          <p:cNvSpPr>
            <a:spLocks noGrp="1"/>
          </p:cNvSpPr>
          <p:nvPr>
            <p:ph idx="1"/>
          </p:nvPr>
        </p:nvSpPr>
        <p:spPr/>
        <p:txBody>
          <a:bodyPr/>
          <a:lstStyle/>
          <a:p>
            <a:pPr algn="just"/>
            <a:r>
              <a:rPr lang="es-MX" dirty="0">
                <a:latin typeface="Arial" panose="020B0604020202020204" pitchFamily="34" charset="0"/>
                <a:cs typeface="Arial" panose="020B0604020202020204" pitchFamily="34" charset="0"/>
              </a:rPr>
              <a:t>Hacer estas prácticas nos sirve para entender cómo aplicar la simulación en problemas reales y ver la diferencia de trabajar en distintos lenguajes de programación. Java nos ayuda a estructurar todo con clases y diseño visual, Python nos permite avanzar rápido con scripts sencillos, y </a:t>
            </a:r>
            <a:r>
              <a:rPr lang="es-MX" dirty="0" err="1">
                <a:latin typeface="Arial" panose="020B0604020202020204" pitchFamily="34" charset="0"/>
                <a:cs typeface="Arial" panose="020B0604020202020204" pitchFamily="34" charset="0"/>
              </a:rPr>
              <a:t>RStudio</a:t>
            </a:r>
            <a:r>
              <a:rPr lang="es-MX" dirty="0">
                <a:latin typeface="Arial" panose="020B0604020202020204" pitchFamily="34" charset="0"/>
                <a:cs typeface="Arial" panose="020B0604020202020204" pitchFamily="34" charset="0"/>
              </a:rPr>
              <a:t> facilita el manejo de datos y estadísticas. Además, apoyarnos en herramientas de IA nos ayudó a corregir fallos rápidamente y a comprender mejor la lógica de los códigos.</a:t>
            </a:r>
          </a:p>
        </p:txBody>
      </p:sp>
    </p:spTree>
    <p:extLst>
      <p:ext uri="{BB962C8B-B14F-4D97-AF65-F5344CB8AC3E}">
        <p14:creationId xmlns:p14="http://schemas.microsoft.com/office/powerpoint/2010/main" val="1956662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40F03E-2A58-4708-8345-B03F8014161D}"/>
              </a:ext>
            </a:extLst>
          </p:cNvPr>
          <p:cNvSpPr>
            <a:spLocks noGrp="1"/>
          </p:cNvSpPr>
          <p:nvPr>
            <p:ph type="title"/>
          </p:nvPr>
        </p:nvSpPr>
        <p:spPr/>
        <p:txBody>
          <a:bodyPr/>
          <a:lstStyle/>
          <a:p>
            <a:r>
              <a:rPr lang="es-MX" dirty="0"/>
              <a:t>Temas </a:t>
            </a:r>
          </a:p>
        </p:txBody>
      </p:sp>
      <p:sp>
        <p:nvSpPr>
          <p:cNvPr id="3" name="Marcador de contenido 2">
            <a:extLst>
              <a:ext uri="{FF2B5EF4-FFF2-40B4-BE49-F238E27FC236}">
                <a16:creationId xmlns:a16="http://schemas.microsoft.com/office/drawing/2014/main" id="{876D81AD-A2EE-447B-A4D9-69BA99CBA6D3}"/>
              </a:ext>
            </a:extLst>
          </p:cNvPr>
          <p:cNvSpPr>
            <a:spLocks noGrp="1"/>
          </p:cNvSpPr>
          <p:nvPr>
            <p:ph idx="1"/>
          </p:nvPr>
        </p:nvSpPr>
        <p:spPr/>
        <p:txBody>
          <a:bodyPr/>
          <a:lstStyle/>
          <a:p>
            <a:r>
              <a:rPr lang="es-MX" b="1" dirty="0">
                <a:latin typeface="Arial" panose="020B0604020202020204" pitchFamily="34" charset="0"/>
                <a:cs typeface="Arial" panose="020B0604020202020204" pitchFamily="34" charset="0"/>
              </a:rPr>
              <a:t>Problemas con líneas de espera (Teoría de Colas)</a:t>
            </a:r>
          </a:p>
          <a:p>
            <a:r>
              <a:rPr lang="es-MX" b="1" dirty="0">
                <a:latin typeface="Arial" panose="020B0604020202020204" pitchFamily="34" charset="0"/>
                <a:cs typeface="Arial" panose="020B0604020202020204" pitchFamily="34" charset="0"/>
              </a:rPr>
              <a:t>Problemas con sistemas de Inventarios</a:t>
            </a:r>
          </a:p>
          <a:p>
            <a:r>
              <a:rPr lang="es-MX" b="1" dirty="0">
                <a:latin typeface="Arial" panose="020B0604020202020204" pitchFamily="34" charset="0"/>
                <a:cs typeface="Arial" panose="020B0604020202020204" pitchFamily="34" charset="0"/>
              </a:rPr>
              <a:t>Pruebas paramétricas</a:t>
            </a:r>
          </a:p>
          <a:p>
            <a:r>
              <a:rPr lang="es-MX" b="1" dirty="0">
                <a:latin typeface="Arial" panose="020B0604020202020204" pitchFamily="34" charset="0"/>
                <a:cs typeface="Arial" panose="020B0604020202020204" pitchFamily="34" charset="0"/>
              </a:rPr>
              <a:t>Análisis Reporte</a:t>
            </a:r>
          </a:p>
          <a:p>
            <a:endParaRPr lang="es-MX" dirty="0"/>
          </a:p>
        </p:txBody>
      </p:sp>
    </p:spTree>
    <p:extLst>
      <p:ext uri="{BB962C8B-B14F-4D97-AF65-F5344CB8AC3E}">
        <p14:creationId xmlns:p14="http://schemas.microsoft.com/office/powerpoint/2010/main" val="1691889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9DD0AB-F0F0-4320-8454-7F909B616D05}"/>
              </a:ext>
            </a:extLst>
          </p:cNvPr>
          <p:cNvSpPr>
            <a:spLocks noGrp="1"/>
          </p:cNvSpPr>
          <p:nvPr>
            <p:ph type="title"/>
          </p:nvPr>
        </p:nvSpPr>
        <p:spPr/>
        <p:txBody>
          <a:bodyPr/>
          <a:lstStyle/>
          <a:p>
            <a:r>
              <a:rPr lang="es-MX" dirty="0"/>
              <a:t>línea de esperas-java</a:t>
            </a:r>
            <a:br>
              <a:rPr lang="es-MX" dirty="0"/>
            </a:br>
            <a:endParaRPr lang="es-MX" dirty="0"/>
          </a:p>
        </p:txBody>
      </p:sp>
      <p:pic>
        <p:nvPicPr>
          <p:cNvPr id="5" name="Imagen 4">
            <a:extLst>
              <a:ext uri="{FF2B5EF4-FFF2-40B4-BE49-F238E27FC236}">
                <a16:creationId xmlns:a16="http://schemas.microsoft.com/office/drawing/2014/main" id="{DAD20C28-6A9F-44B6-A792-C5E61F8DDD67}"/>
              </a:ext>
            </a:extLst>
          </p:cNvPr>
          <p:cNvPicPr>
            <a:picLocks noChangeAspect="1"/>
          </p:cNvPicPr>
          <p:nvPr/>
        </p:nvPicPr>
        <p:blipFill>
          <a:blip r:embed="rId2"/>
          <a:stretch>
            <a:fillRect/>
          </a:stretch>
        </p:blipFill>
        <p:spPr>
          <a:xfrm>
            <a:off x="371475" y="2190750"/>
            <a:ext cx="3183467" cy="1790700"/>
          </a:xfrm>
          <a:prstGeom prst="rect">
            <a:avLst/>
          </a:prstGeom>
        </p:spPr>
      </p:pic>
      <p:pic>
        <p:nvPicPr>
          <p:cNvPr id="7" name="Imagen 6">
            <a:extLst>
              <a:ext uri="{FF2B5EF4-FFF2-40B4-BE49-F238E27FC236}">
                <a16:creationId xmlns:a16="http://schemas.microsoft.com/office/drawing/2014/main" id="{9DCF3D36-0A93-48DE-B3F7-C8BCA6685277}"/>
              </a:ext>
            </a:extLst>
          </p:cNvPr>
          <p:cNvPicPr>
            <a:picLocks noChangeAspect="1"/>
          </p:cNvPicPr>
          <p:nvPr/>
        </p:nvPicPr>
        <p:blipFill>
          <a:blip r:embed="rId3"/>
          <a:stretch>
            <a:fillRect/>
          </a:stretch>
        </p:blipFill>
        <p:spPr>
          <a:xfrm>
            <a:off x="4200524" y="2093977"/>
            <a:ext cx="3356481" cy="1887474"/>
          </a:xfrm>
          <a:prstGeom prst="rect">
            <a:avLst/>
          </a:prstGeom>
        </p:spPr>
      </p:pic>
      <p:pic>
        <p:nvPicPr>
          <p:cNvPr id="9" name="Imagen 8">
            <a:extLst>
              <a:ext uri="{FF2B5EF4-FFF2-40B4-BE49-F238E27FC236}">
                <a16:creationId xmlns:a16="http://schemas.microsoft.com/office/drawing/2014/main" id="{168497B2-0D02-44BE-9080-CB51FCC551C7}"/>
              </a:ext>
            </a:extLst>
          </p:cNvPr>
          <p:cNvPicPr>
            <a:picLocks noChangeAspect="1"/>
          </p:cNvPicPr>
          <p:nvPr/>
        </p:nvPicPr>
        <p:blipFill>
          <a:blip r:embed="rId4"/>
          <a:stretch>
            <a:fillRect/>
          </a:stretch>
        </p:blipFill>
        <p:spPr>
          <a:xfrm>
            <a:off x="8429626" y="2057401"/>
            <a:ext cx="3554942" cy="1969404"/>
          </a:xfrm>
          <a:prstGeom prst="rect">
            <a:avLst/>
          </a:prstGeom>
        </p:spPr>
      </p:pic>
      <p:sp>
        <p:nvSpPr>
          <p:cNvPr id="10" name="CuadroTexto 9">
            <a:extLst>
              <a:ext uri="{FF2B5EF4-FFF2-40B4-BE49-F238E27FC236}">
                <a16:creationId xmlns:a16="http://schemas.microsoft.com/office/drawing/2014/main" id="{1E800780-D4D3-4C24-A067-DB850D9C1CB1}"/>
              </a:ext>
            </a:extLst>
          </p:cNvPr>
          <p:cNvSpPr txBox="1"/>
          <p:nvPr/>
        </p:nvSpPr>
        <p:spPr>
          <a:xfrm>
            <a:off x="466725" y="4078224"/>
            <a:ext cx="2705100" cy="2585323"/>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Creamos nuestro proyecto desde cero asignándole un nombre referenciado al tema al igual creamos nuestro estructura de nuestro proyecto, paquetes y clases.</a:t>
            </a:r>
          </a:p>
          <a:p>
            <a:pPr algn="just"/>
            <a:endParaRPr lang="es-MX" dirty="0">
              <a:latin typeface="Arial" panose="020B0604020202020204" pitchFamily="34" charset="0"/>
              <a:cs typeface="Arial" panose="020B0604020202020204" pitchFamily="34" charset="0"/>
            </a:endParaRPr>
          </a:p>
        </p:txBody>
      </p:sp>
      <p:sp>
        <p:nvSpPr>
          <p:cNvPr id="11" name="CuadroTexto 10">
            <a:extLst>
              <a:ext uri="{FF2B5EF4-FFF2-40B4-BE49-F238E27FC236}">
                <a16:creationId xmlns:a16="http://schemas.microsoft.com/office/drawing/2014/main" id="{82B26628-1F97-4BD7-8033-38569140612E}"/>
              </a:ext>
            </a:extLst>
          </p:cNvPr>
          <p:cNvSpPr txBox="1"/>
          <p:nvPr/>
        </p:nvSpPr>
        <p:spPr>
          <a:xfrm>
            <a:off x="3333750" y="4065044"/>
            <a:ext cx="5019675" cy="2862322"/>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Ya teniendo nuestra estructura lista, asignamos nombres a clases y paquetes. Se empieza a codificar cada una de las clases creadas en este caso creamos 5 clases las cuales cada una de ellas le agregamos códigos para que al momento de ejecutar el programa no ocurra errores.</a:t>
            </a:r>
          </a:p>
          <a:p>
            <a:pPr algn="just"/>
            <a:r>
              <a:rPr lang="es-MX" dirty="0">
                <a:latin typeface="Arial" panose="020B0604020202020204" pitchFamily="34" charset="0"/>
                <a:cs typeface="Arial" panose="020B0604020202020204" pitchFamily="34" charset="0"/>
              </a:rPr>
              <a:t>Al igual creamos nuestra pantalla se </a:t>
            </a:r>
            <a:r>
              <a:rPr lang="es-MX" dirty="0" err="1">
                <a:latin typeface="Arial" panose="020B0604020202020204" pitchFamily="34" charset="0"/>
                <a:cs typeface="Arial" panose="020B0604020202020204" pitchFamily="34" charset="0"/>
              </a:rPr>
              <a:t>SceneBuilder</a:t>
            </a:r>
            <a:r>
              <a:rPr lang="es-MX" dirty="0">
                <a:latin typeface="Arial" panose="020B0604020202020204" pitchFamily="34" charset="0"/>
                <a:cs typeface="Arial" panose="020B0604020202020204" pitchFamily="34" charset="0"/>
              </a:rPr>
              <a:t> la cual agregamos las estructura que vamos a necesitar. </a:t>
            </a:r>
          </a:p>
        </p:txBody>
      </p:sp>
      <p:sp>
        <p:nvSpPr>
          <p:cNvPr id="12" name="CuadroTexto 11">
            <a:extLst>
              <a:ext uri="{FF2B5EF4-FFF2-40B4-BE49-F238E27FC236}">
                <a16:creationId xmlns:a16="http://schemas.microsoft.com/office/drawing/2014/main" id="{1A7FCA1D-1AF1-4A89-8B45-BAF06F0BF329}"/>
              </a:ext>
            </a:extLst>
          </p:cNvPr>
          <p:cNvSpPr txBox="1"/>
          <p:nvPr/>
        </p:nvSpPr>
        <p:spPr>
          <a:xfrm>
            <a:off x="8498418" y="4121095"/>
            <a:ext cx="3486150"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Como parte final ejecutamos nuestro proyecto y e seguida nos muestra la ventana del </a:t>
            </a:r>
            <a:r>
              <a:rPr lang="es-MX" dirty="0" err="1">
                <a:latin typeface="Arial" panose="020B0604020202020204" pitchFamily="34" charset="0"/>
                <a:cs typeface="Arial" panose="020B0604020202020204" pitchFamily="34" charset="0"/>
              </a:rPr>
              <a:t>SceneBuilder</a:t>
            </a:r>
            <a:r>
              <a:rPr lang="es-MX" dirty="0">
                <a:latin typeface="Arial" panose="020B0604020202020204" pitchFamily="34" charset="0"/>
                <a:cs typeface="Arial" panose="020B0604020202020204" pitchFamily="34" charset="0"/>
              </a:rPr>
              <a:t>, nuestro proyecto de ejecuto correctamente bien, ingresamos datos requeridos y muestra resultados </a:t>
            </a:r>
          </a:p>
        </p:txBody>
      </p:sp>
    </p:spTree>
    <p:extLst>
      <p:ext uri="{BB962C8B-B14F-4D97-AF65-F5344CB8AC3E}">
        <p14:creationId xmlns:p14="http://schemas.microsoft.com/office/powerpoint/2010/main" val="576137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544B90-A546-4F29-9887-39D013293E14}"/>
              </a:ext>
            </a:extLst>
          </p:cNvPr>
          <p:cNvSpPr>
            <a:spLocks noGrp="1"/>
          </p:cNvSpPr>
          <p:nvPr>
            <p:ph type="title"/>
          </p:nvPr>
        </p:nvSpPr>
        <p:spPr/>
        <p:txBody>
          <a:bodyPr/>
          <a:lstStyle/>
          <a:p>
            <a:r>
              <a:rPr lang="es-MX" dirty="0"/>
              <a:t>Inventarios-java</a:t>
            </a:r>
          </a:p>
        </p:txBody>
      </p:sp>
      <p:pic>
        <p:nvPicPr>
          <p:cNvPr id="5" name="Marcador de contenido 4">
            <a:extLst>
              <a:ext uri="{FF2B5EF4-FFF2-40B4-BE49-F238E27FC236}">
                <a16:creationId xmlns:a16="http://schemas.microsoft.com/office/drawing/2014/main" id="{7F8ACDA3-3B1B-4892-BEDE-064A94813697}"/>
              </a:ext>
            </a:extLst>
          </p:cNvPr>
          <p:cNvPicPr>
            <a:picLocks noGrp="1" noChangeAspect="1"/>
          </p:cNvPicPr>
          <p:nvPr>
            <p:ph idx="1"/>
          </p:nvPr>
        </p:nvPicPr>
        <p:blipFill>
          <a:blip r:embed="rId2"/>
          <a:stretch>
            <a:fillRect/>
          </a:stretch>
        </p:blipFill>
        <p:spPr>
          <a:xfrm>
            <a:off x="123825" y="2179701"/>
            <a:ext cx="2819400" cy="1569275"/>
          </a:xfrm>
        </p:spPr>
      </p:pic>
      <p:pic>
        <p:nvPicPr>
          <p:cNvPr id="7" name="Imagen 6">
            <a:extLst>
              <a:ext uri="{FF2B5EF4-FFF2-40B4-BE49-F238E27FC236}">
                <a16:creationId xmlns:a16="http://schemas.microsoft.com/office/drawing/2014/main" id="{64BF3B98-B1DB-4EC3-98F5-6339C23BD061}"/>
              </a:ext>
            </a:extLst>
          </p:cNvPr>
          <p:cNvPicPr>
            <a:picLocks noChangeAspect="1"/>
          </p:cNvPicPr>
          <p:nvPr/>
        </p:nvPicPr>
        <p:blipFill>
          <a:blip r:embed="rId3"/>
          <a:stretch>
            <a:fillRect/>
          </a:stretch>
        </p:blipFill>
        <p:spPr>
          <a:xfrm>
            <a:off x="3829050" y="2096962"/>
            <a:ext cx="2943225" cy="1652014"/>
          </a:xfrm>
          <a:prstGeom prst="rect">
            <a:avLst/>
          </a:prstGeom>
        </p:spPr>
      </p:pic>
      <p:pic>
        <p:nvPicPr>
          <p:cNvPr id="9" name="Imagen 8">
            <a:extLst>
              <a:ext uri="{FF2B5EF4-FFF2-40B4-BE49-F238E27FC236}">
                <a16:creationId xmlns:a16="http://schemas.microsoft.com/office/drawing/2014/main" id="{5647CD66-827B-4712-A551-957151AF7EA4}"/>
              </a:ext>
            </a:extLst>
          </p:cNvPr>
          <p:cNvPicPr>
            <a:picLocks noChangeAspect="1"/>
          </p:cNvPicPr>
          <p:nvPr/>
        </p:nvPicPr>
        <p:blipFill>
          <a:blip r:embed="rId4"/>
          <a:stretch>
            <a:fillRect/>
          </a:stretch>
        </p:blipFill>
        <p:spPr>
          <a:xfrm>
            <a:off x="7839075" y="2093976"/>
            <a:ext cx="2888684" cy="1609345"/>
          </a:xfrm>
          <a:prstGeom prst="rect">
            <a:avLst/>
          </a:prstGeom>
        </p:spPr>
      </p:pic>
      <p:sp>
        <p:nvSpPr>
          <p:cNvPr id="3" name="CuadroTexto 2">
            <a:extLst>
              <a:ext uri="{FF2B5EF4-FFF2-40B4-BE49-F238E27FC236}">
                <a16:creationId xmlns:a16="http://schemas.microsoft.com/office/drawing/2014/main" id="{F3D30E09-47BB-4318-92B5-CE3709FB537C}"/>
              </a:ext>
            </a:extLst>
          </p:cNvPr>
          <p:cNvSpPr txBox="1"/>
          <p:nvPr/>
        </p:nvSpPr>
        <p:spPr>
          <a:xfrm>
            <a:off x="285750" y="4164568"/>
            <a:ext cx="2657475" cy="2308324"/>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Creamos nuestro proyecto en Java asignándole un nombre referenciado al tema de inventarios, igual creamos la estructura de nuestro proyecto con sus paquetes y clases.</a:t>
            </a:r>
          </a:p>
        </p:txBody>
      </p:sp>
      <p:sp>
        <p:nvSpPr>
          <p:cNvPr id="8" name="CuadroTexto 7">
            <a:extLst>
              <a:ext uri="{FF2B5EF4-FFF2-40B4-BE49-F238E27FC236}">
                <a16:creationId xmlns:a16="http://schemas.microsoft.com/office/drawing/2014/main" id="{764DB74F-1584-499B-8E44-39BEE0CD6014}"/>
              </a:ext>
            </a:extLst>
          </p:cNvPr>
          <p:cNvSpPr txBox="1"/>
          <p:nvPr/>
        </p:nvSpPr>
        <p:spPr>
          <a:xfrm>
            <a:off x="4035142" y="3999905"/>
            <a:ext cx="2943225" cy="2308324"/>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Ya teniendo la estructura lista, codificamos la lógica para calcular las demandas y los costos. Al igual creamos nuestra pantalla en </a:t>
            </a:r>
            <a:r>
              <a:rPr lang="es-MX" dirty="0" err="1">
                <a:latin typeface="Arial" panose="020B0604020202020204" pitchFamily="34" charset="0"/>
                <a:cs typeface="Arial" panose="020B0604020202020204" pitchFamily="34" charset="0"/>
              </a:rPr>
              <a:t>SceneBuilder</a:t>
            </a:r>
            <a:r>
              <a:rPr lang="es-MX" dirty="0">
                <a:latin typeface="Arial" panose="020B0604020202020204" pitchFamily="34" charset="0"/>
                <a:cs typeface="Arial" panose="020B0604020202020204" pitchFamily="34" charset="0"/>
              </a:rPr>
              <a:t> agregando la interfaz que vamos a necesitar</a:t>
            </a:r>
            <a:r>
              <a:rPr lang="es-MX" dirty="0"/>
              <a:t>.</a:t>
            </a:r>
          </a:p>
        </p:txBody>
      </p:sp>
      <p:sp>
        <p:nvSpPr>
          <p:cNvPr id="10" name="CuadroTexto 9">
            <a:extLst>
              <a:ext uri="{FF2B5EF4-FFF2-40B4-BE49-F238E27FC236}">
                <a16:creationId xmlns:a16="http://schemas.microsoft.com/office/drawing/2014/main" id="{63B07810-C004-47CB-935B-B2E3EABE03C3}"/>
              </a:ext>
            </a:extLst>
          </p:cNvPr>
          <p:cNvSpPr txBox="1"/>
          <p:nvPr/>
        </p:nvSpPr>
        <p:spPr>
          <a:xfrm>
            <a:off x="8070284" y="4004965"/>
            <a:ext cx="2657475" cy="2585323"/>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Como parte final ejecutamos nuestro proyecto y en seguida nos muestra la ventana, el proyecto ejecutó correctamente bien, ingresamos los datos requeridos y muestra resultados.</a:t>
            </a:r>
          </a:p>
        </p:txBody>
      </p:sp>
    </p:spTree>
    <p:extLst>
      <p:ext uri="{BB962C8B-B14F-4D97-AF65-F5344CB8AC3E}">
        <p14:creationId xmlns:p14="http://schemas.microsoft.com/office/powerpoint/2010/main" val="2275800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DDFFC2-13FF-4ED0-AAB7-971EF4FB9DB9}"/>
              </a:ext>
            </a:extLst>
          </p:cNvPr>
          <p:cNvSpPr>
            <a:spLocks noGrp="1"/>
          </p:cNvSpPr>
          <p:nvPr>
            <p:ph type="title"/>
          </p:nvPr>
        </p:nvSpPr>
        <p:spPr/>
        <p:txBody>
          <a:bodyPr/>
          <a:lstStyle/>
          <a:p>
            <a:r>
              <a:rPr lang="es-MX" dirty="0"/>
              <a:t>Pruebas paramétricas-java</a:t>
            </a:r>
          </a:p>
        </p:txBody>
      </p:sp>
      <p:pic>
        <p:nvPicPr>
          <p:cNvPr id="5" name="Marcador de contenido 4">
            <a:extLst>
              <a:ext uri="{FF2B5EF4-FFF2-40B4-BE49-F238E27FC236}">
                <a16:creationId xmlns:a16="http://schemas.microsoft.com/office/drawing/2014/main" id="{A8E66B8E-23F7-438F-95F9-F4E4750EF965}"/>
              </a:ext>
            </a:extLst>
          </p:cNvPr>
          <p:cNvPicPr>
            <a:picLocks noGrp="1" noChangeAspect="1"/>
          </p:cNvPicPr>
          <p:nvPr>
            <p:ph idx="1"/>
          </p:nvPr>
        </p:nvPicPr>
        <p:blipFill>
          <a:blip r:embed="rId2"/>
          <a:stretch>
            <a:fillRect/>
          </a:stretch>
        </p:blipFill>
        <p:spPr>
          <a:xfrm>
            <a:off x="664970" y="2093976"/>
            <a:ext cx="3497455" cy="1939382"/>
          </a:xfrm>
        </p:spPr>
      </p:pic>
      <p:pic>
        <p:nvPicPr>
          <p:cNvPr id="7" name="Imagen 6">
            <a:extLst>
              <a:ext uri="{FF2B5EF4-FFF2-40B4-BE49-F238E27FC236}">
                <a16:creationId xmlns:a16="http://schemas.microsoft.com/office/drawing/2014/main" id="{54BA7FCF-2D57-42B6-A2E8-F343F8F3A431}"/>
              </a:ext>
            </a:extLst>
          </p:cNvPr>
          <p:cNvPicPr>
            <a:picLocks noChangeAspect="1"/>
          </p:cNvPicPr>
          <p:nvPr/>
        </p:nvPicPr>
        <p:blipFill>
          <a:blip r:embed="rId3"/>
          <a:stretch>
            <a:fillRect/>
          </a:stretch>
        </p:blipFill>
        <p:spPr>
          <a:xfrm>
            <a:off x="8286754" y="2013138"/>
            <a:ext cx="3523100" cy="1903136"/>
          </a:xfrm>
          <a:prstGeom prst="rect">
            <a:avLst/>
          </a:prstGeom>
        </p:spPr>
      </p:pic>
      <p:pic>
        <p:nvPicPr>
          <p:cNvPr id="9" name="Imagen 8">
            <a:extLst>
              <a:ext uri="{FF2B5EF4-FFF2-40B4-BE49-F238E27FC236}">
                <a16:creationId xmlns:a16="http://schemas.microsoft.com/office/drawing/2014/main" id="{38923906-DD28-45F1-A021-64D7EA43D815}"/>
              </a:ext>
            </a:extLst>
          </p:cNvPr>
          <p:cNvPicPr>
            <a:picLocks noChangeAspect="1"/>
          </p:cNvPicPr>
          <p:nvPr/>
        </p:nvPicPr>
        <p:blipFill>
          <a:blip r:embed="rId4"/>
          <a:stretch>
            <a:fillRect/>
          </a:stretch>
        </p:blipFill>
        <p:spPr>
          <a:xfrm>
            <a:off x="4475862" y="2053557"/>
            <a:ext cx="3497455" cy="1903136"/>
          </a:xfrm>
          <a:prstGeom prst="rect">
            <a:avLst/>
          </a:prstGeom>
        </p:spPr>
      </p:pic>
      <p:sp>
        <p:nvSpPr>
          <p:cNvPr id="3" name="CuadroTexto 2">
            <a:extLst>
              <a:ext uri="{FF2B5EF4-FFF2-40B4-BE49-F238E27FC236}">
                <a16:creationId xmlns:a16="http://schemas.microsoft.com/office/drawing/2014/main" id="{015F9870-9C70-408C-A787-9B83B276C6F4}"/>
              </a:ext>
            </a:extLst>
          </p:cNvPr>
          <p:cNvSpPr txBox="1"/>
          <p:nvPr/>
        </p:nvSpPr>
        <p:spPr>
          <a:xfrm>
            <a:off x="664970" y="4524375"/>
            <a:ext cx="2935480" cy="369332"/>
          </a:xfrm>
          <a:prstGeom prst="rect">
            <a:avLst/>
          </a:prstGeom>
          <a:noFill/>
        </p:spPr>
        <p:txBody>
          <a:bodyPr wrap="square" rtlCol="0">
            <a:spAutoFit/>
          </a:bodyPr>
          <a:lstStyle/>
          <a:p>
            <a:pPr algn="just"/>
            <a:endParaRPr lang="es-MX"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C28D0817-91C1-4CCB-B555-35BBA1D55C2E}"/>
              </a:ext>
            </a:extLst>
          </p:cNvPr>
          <p:cNvSpPr txBox="1"/>
          <p:nvPr/>
        </p:nvSpPr>
        <p:spPr>
          <a:xfrm>
            <a:off x="476250" y="4335374"/>
            <a:ext cx="3497455" cy="1754326"/>
          </a:xfrm>
          <a:prstGeom prst="rect">
            <a:avLst/>
          </a:prstGeom>
          <a:noFill/>
        </p:spPr>
        <p:txBody>
          <a:bodyPr wrap="square">
            <a:spAutoFit/>
          </a:bodyPr>
          <a:lstStyle/>
          <a:p>
            <a:pPr algn="just"/>
            <a:r>
              <a:rPr lang="es-MX" dirty="0">
                <a:latin typeface="Arial" panose="020B0604020202020204" pitchFamily="34" charset="0"/>
                <a:cs typeface="Arial" panose="020B0604020202020204" pitchFamily="34" charset="0"/>
              </a:rPr>
              <a:t> Creamos nuestro proyecto desde cero asignándole un nombre referenciado al tema de pruebas paramétricas, al igual creamos nuestra estructura de paquetes y clases.</a:t>
            </a:r>
          </a:p>
        </p:txBody>
      </p:sp>
      <p:sp>
        <p:nvSpPr>
          <p:cNvPr id="10" name="CuadroTexto 9">
            <a:extLst>
              <a:ext uri="{FF2B5EF4-FFF2-40B4-BE49-F238E27FC236}">
                <a16:creationId xmlns:a16="http://schemas.microsoft.com/office/drawing/2014/main" id="{DA36CBD6-5FC9-4FE5-8B70-99EA4F8DFABC}"/>
              </a:ext>
            </a:extLst>
          </p:cNvPr>
          <p:cNvSpPr txBox="1"/>
          <p:nvPr/>
        </p:nvSpPr>
        <p:spPr>
          <a:xfrm>
            <a:off x="4558915" y="4116299"/>
            <a:ext cx="3497455" cy="2031325"/>
          </a:xfrm>
          <a:prstGeom prst="rect">
            <a:avLst/>
          </a:prstGeom>
          <a:noFill/>
        </p:spPr>
        <p:txBody>
          <a:bodyPr wrap="square">
            <a:spAutoFit/>
          </a:bodyPr>
          <a:lstStyle/>
          <a:p>
            <a:pPr algn="just"/>
            <a:r>
              <a:rPr lang="es-MX" dirty="0">
                <a:latin typeface="Arial" panose="020B0604020202020204" pitchFamily="34" charset="0"/>
                <a:cs typeface="Arial" panose="020B0604020202020204" pitchFamily="34" charset="0"/>
              </a:rPr>
              <a:t>Asignamos nombres a las clases y empezamos a codificar cada una de ellas para hacer los cálculos estadísticos. Al igual creamos nuestra pantalla en </a:t>
            </a:r>
            <a:r>
              <a:rPr lang="es-MX" dirty="0" err="1">
                <a:latin typeface="Arial" panose="020B0604020202020204" pitchFamily="34" charset="0"/>
                <a:cs typeface="Arial" panose="020B0604020202020204" pitchFamily="34" charset="0"/>
              </a:rPr>
              <a:t>Scene</a:t>
            </a:r>
            <a:r>
              <a:rPr lang="es-MX" dirty="0">
                <a:latin typeface="Arial" panose="020B0604020202020204" pitchFamily="34" charset="0"/>
                <a:cs typeface="Arial" panose="020B0604020202020204" pitchFamily="34" charset="0"/>
              </a:rPr>
              <a:t> </a:t>
            </a:r>
            <a:r>
              <a:rPr lang="es-MX" dirty="0" err="1">
                <a:latin typeface="Arial" panose="020B0604020202020204" pitchFamily="34" charset="0"/>
                <a:cs typeface="Arial" panose="020B0604020202020204" pitchFamily="34" charset="0"/>
              </a:rPr>
              <a:t>Builder</a:t>
            </a:r>
            <a:r>
              <a:rPr lang="es-MX" dirty="0">
                <a:latin typeface="Arial" panose="020B0604020202020204" pitchFamily="34" charset="0"/>
                <a:cs typeface="Arial" panose="020B0604020202020204" pitchFamily="34" charset="0"/>
              </a:rPr>
              <a:t> para capturar las muestras.</a:t>
            </a:r>
          </a:p>
        </p:txBody>
      </p:sp>
      <p:sp>
        <p:nvSpPr>
          <p:cNvPr id="11" name="CuadroTexto 10">
            <a:extLst>
              <a:ext uri="{FF2B5EF4-FFF2-40B4-BE49-F238E27FC236}">
                <a16:creationId xmlns:a16="http://schemas.microsoft.com/office/drawing/2014/main" id="{3EE586AD-3453-4B19-8E21-FF48D5C736F3}"/>
              </a:ext>
            </a:extLst>
          </p:cNvPr>
          <p:cNvSpPr txBox="1"/>
          <p:nvPr/>
        </p:nvSpPr>
        <p:spPr>
          <a:xfrm>
            <a:off x="8429625" y="4116299"/>
            <a:ext cx="3497455" cy="2031325"/>
          </a:xfrm>
          <a:prstGeom prst="rect">
            <a:avLst/>
          </a:prstGeom>
          <a:noFill/>
        </p:spPr>
        <p:txBody>
          <a:bodyPr wrap="square">
            <a:spAutoFit/>
          </a:bodyPr>
          <a:lstStyle/>
          <a:p>
            <a:pPr algn="just"/>
            <a:r>
              <a:rPr lang="es-MX" dirty="0">
                <a:latin typeface="Arial" panose="020B0604020202020204" pitchFamily="34" charset="0"/>
                <a:cs typeface="Arial" panose="020B0604020202020204" pitchFamily="34" charset="0"/>
              </a:rPr>
              <a:t>Como parte final ejecutamos nuestro proyecto y en seguida nos muestra la ventana, nuestro proyecto ejecutó correctamente bien, ingresamos datos requeridos y muestra resultados.</a:t>
            </a:r>
          </a:p>
        </p:txBody>
      </p:sp>
    </p:spTree>
    <p:extLst>
      <p:ext uri="{BB962C8B-B14F-4D97-AF65-F5344CB8AC3E}">
        <p14:creationId xmlns:p14="http://schemas.microsoft.com/office/powerpoint/2010/main" val="2864916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69C37D-ACA4-469A-88F9-1C05B9EF3068}"/>
              </a:ext>
            </a:extLst>
          </p:cNvPr>
          <p:cNvSpPr>
            <a:spLocks noGrp="1"/>
          </p:cNvSpPr>
          <p:nvPr>
            <p:ph type="title"/>
          </p:nvPr>
        </p:nvSpPr>
        <p:spPr/>
        <p:txBody>
          <a:bodyPr/>
          <a:lstStyle/>
          <a:p>
            <a:r>
              <a:rPr lang="es-MX" dirty="0"/>
              <a:t>Análisis reporte-java</a:t>
            </a:r>
          </a:p>
        </p:txBody>
      </p:sp>
      <p:pic>
        <p:nvPicPr>
          <p:cNvPr id="5" name="Marcador de contenido 4">
            <a:extLst>
              <a:ext uri="{FF2B5EF4-FFF2-40B4-BE49-F238E27FC236}">
                <a16:creationId xmlns:a16="http://schemas.microsoft.com/office/drawing/2014/main" id="{9C037248-6921-4C4D-B127-4479532A4763}"/>
              </a:ext>
            </a:extLst>
          </p:cNvPr>
          <p:cNvPicPr>
            <a:picLocks noGrp="1" noChangeAspect="1"/>
          </p:cNvPicPr>
          <p:nvPr>
            <p:ph idx="1"/>
          </p:nvPr>
        </p:nvPicPr>
        <p:blipFill>
          <a:blip r:embed="rId2"/>
          <a:stretch>
            <a:fillRect/>
          </a:stretch>
        </p:blipFill>
        <p:spPr>
          <a:xfrm>
            <a:off x="8315325" y="1884167"/>
            <a:ext cx="3619500" cy="2014610"/>
          </a:xfrm>
        </p:spPr>
      </p:pic>
      <p:pic>
        <p:nvPicPr>
          <p:cNvPr id="7" name="Imagen 6">
            <a:extLst>
              <a:ext uri="{FF2B5EF4-FFF2-40B4-BE49-F238E27FC236}">
                <a16:creationId xmlns:a16="http://schemas.microsoft.com/office/drawing/2014/main" id="{401D640D-9F04-45E0-AE71-0C0864D28B37}"/>
              </a:ext>
            </a:extLst>
          </p:cNvPr>
          <p:cNvPicPr>
            <a:picLocks noChangeAspect="1"/>
          </p:cNvPicPr>
          <p:nvPr/>
        </p:nvPicPr>
        <p:blipFill>
          <a:blip r:embed="rId3"/>
          <a:stretch>
            <a:fillRect/>
          </a:stretch>
        </p:blipFill>
        <p:spPr>
          <a:xfrm>
            <a:off x="242644" y="1884166"/>
            <a:ext cx="3707228" cy="2084711"/>
          </a:xfrm>
          <a:prstGeom prst="rect">
            <a:avLst/>
          </a:prstGeom>
        </p:spPr>
      </p:pic>
      <p:pic>
        <p:nvPicPr>
          <p:cNvPr id="9" name="Imagen 8">
            <a:extLst>
              <a:ext uri="{FF2B5EF4-FFF2-40B4-BE49-F238E27FC236}">
                <a16:creationId xmlns:a16="http://schemas.microsoft.com/office/drawing/2014/main" id="{41F22091-7812-49A7-8391-7A69DB56D361}"/>
              </a:ext>
            </a:extLst>
          </p:cNvPr>
          <p:cNvPicPr>
            <a:picLocks noChangeAspect="1"/>
          </p:cNvPicPr>
          <p:nvPr/>
        </p:nvPicPr>
        <p:blipFill>
          <a:blip r:embed="rId4"/>
          <a:stretch>
            <a:fillRect/>
          </a:stretch>
        </p:blipFill>
        <p:spPr>
          <a:xfrm>
            <a:off x="4070224" y="1884167"/>
            <a:ext cx="4004397" cy="2084710"/>
          </a:xfrm>
          <a:prstGeom prst="rect">
            <a:avLst/>
          </a:prstGeom>
        </p:spPr>
      </p:pic>
      <p:sp>
        <p:nvSpPr>
          <p:cNvPr id="3" name="CuadroTexto 2">
            <a:extLst>
              <a:ext uri="{FF2B5EF4-FFF2-40B4-BE49-F238E27FC236}">
                <a16:creationId xmlns:a16="http://schemas.microsoft.com/office/drawing/2014/main" id="{B3E52F78-0F79-4BAF-A724-824E19F1234F}"/>
              </a:ext>
            </a:extLst>
          </p:cNvPr>
          <p:cNvSpPr txBox="1"/>
          <p:nvPr/>
        </p:nvSpPr>
        <p:spPr>
          <a:xfrm>
            <a:off x="254127" y="4206359"/>
            <a:ext cx="3200887"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Creamos nuestro proyecto asignándole un nombre referenciado al tema de generación de reportes, creando la estructura de nuestro proyecto, paquetes y clases.</a:t>
            </a:r>
          </a:p>
        </p:txBody>
      </p:sp>
      <p:sp>
        <p:nvSpPr>
          <p:cNvPr id="8" name="CuadroTexto 7">
            <a:extLst>
              <a:ext uri="{FF2B5EF4-FFF2-40B4-BE49-F238E27FC236}">
                <a16:creationId xmlns:a16="http://schemas.microsoft.com/office/drawing/2014/main" id="{7F41898F-D71F-4C1A-9A28-B203E086E60C}"/>
              </a:ext>
            </a:extLst>
          </p:cNvPr>
          <p:cNvSpPr txBox="1"/>
          <p:nvPr/>
        </p:nvSpPr>
        <p:spPr>
          <a:xfrm>
            <a:off x="4352438" y="4206360"/>
            <a:ext cx="3200887" cy="2308324"/>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Codificamos las clases creadas agregando los códigos necesarios para que al momento de ejecutar no ocurran errores. Al igual creamos nuestra pantalla en </a:t>
            </a:r>
            <a:r>
              <a:rPr lang="es-MX" dirty="0" err="1">
                <a:latin typeface="Arial" panose="020B0604020202020204" pitchFamily="34" charset="0"/>
                <a:cs typeface="Arial" panose="020B0604020202020204" pitchFamily="34" charset="0"/>
              </a:rPr>
              <a:t>Scene</a:t>
            </a:r>
            <a:r>
              <a:rPr lang="es-MX" dirty="0">
                <a:latin typeface="Arial" panose="020B0604020202020204" pitchFamily="34" charset="0"/>
                <a:cs typeface="Arial" panose="020B0604020202020204" pitchFamily="34" charset="0"/>
              </a:rPr>
              <a:t> </a:t>
            </a:r>
            <a:r>
              <a:rPr lang="es-MX" dirty="0" err="1">
                <a:latin typeface="Arial" panose="020B0604020202020204" pitchFamily="34" charset="0"/>
                <a:cs typeface="Arial" panose="020B0604020202020204" pitchFamily="34" charset="0"/>
              </a:rPr>
              <a:t>Builder</a:t>
            </a:r>
            <a:r>
              <a:rPr lang="es-MX" dirty="0">
                <a:latin typeface="Arial" panose="020B0604020202020204" pitchFamily="34" charset="0"/>
                <a:cs typeface="Arial" panose="020B0604020202020204" pitchFamily="34" charset="0"/>
              </a:rPr>
              <a:t> agregando la estructura.</a:t>
            </a:r>
          </a:p>
        </p:txBody>
      </p:sp>
      <p:sp>
        <p:nvSpPr>
          <p:cNvPr id="10" name="CuadroTexto 9">
            <a:extLst>
              <a:ext uri="{FF2B5EF4-FFF2-40B4-BE49-F238E27FC236}">
                <a16:creationId xmlns:a16="http://schemas.microsoft.com/office/drawing/2014/main" id="{25AC5030-FA5C-41B9-B7AF-4D6E5669CB02}"/>
              </a:ext>
            </a:extLst>
          </p:cNvPr>
          <p:cNvSpPr txBox="1"/>
          <p:nvPr/>
        </p:nvSpPr>
        <p:spPr>
          <a:xfrm>
            <a:off x="8733938" y="4144150"/>
            <a:ext cx="3200887" cy="2308324"/>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Como parte final ejecutamos nuestro proyecto y en seguida nos muestra la ventana del reporte final, el proyecto ejecutó correctamente bien, ingresamos datos y muestra resultados.</a:t>
            </a:r>
          </a:p>
        </p:txBody>
      </p:sp>
    </p:spTree>
    <p:extLst>
      <p:ext uri="{BB962C8B-B14F-4D97-AF65-F5344CB8AC3E}">
        <p14:creationId xmlns:p14="http://schemas.microsoft.com/office/powerpoint/2010/main" val="817102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1549C4-6384-4D06-B630-556D66E7E26F}"/>
              </a:ext>
            </a:extLst>
          </p:cNvPr>
          <p:cNvSpPr>
            <a:spLocks noGrp="1"/>
          </p:cNvSpPr>
          <p:nvPr>
            <p:ph type="title"/>
          </p:nvPr>
        </p:nvSpPr>
        <p:spPr/>
        <p:txBody>
          <a:bodyPr/>
          <a:lstStyle/>
          <a:p>
            <a:r>
              <a:rPr lang="es-MX" dirty="0"/>
              <a:t>línea de esperas-Python</a:t>
            </a:r>
            <a:br>
              <a:rPr lang="es-MX" dirty="0"/>
            </a:br>
            <a:endParaRPr lang="es-MX" dirty="0"/>
          </a:p>
        </p:txBody>
      </p:sp>
      <p:pic>
        <p:nvPicPr>
          <p:cNvPr id="5" name="Marcador de contenido 4">
            <a:extLst>
              <a:ext uri="{FF2B5EF4-FFF2-40B4-BE49-F238E27FC236}">
                <a16:creationId xmlns:a16="http://schemas.microsoft.com/office/drawing/2014/main" id="{358813D4-F7F5-4F21-AF32-97474C146BD3}"/>
              </a:ext>
            </a:extLst>
          </p:cNvPr>
          <p:cNvPicPr>
            <a:picLocks noGrp="1" noChangeAspect="1"/>
          </p:cNvPicPr>
          <p:nvPr>
            <p:ph idx="1"/>
          </p:nvPr>
        </p:nvPicPr>
        <p:blipFill>
          <a:blip r:embed="rId2"/>
          <a:stretch>
            <a:fillRect/>
          </a:stretch>
        </p:blipFill>
        <p:spPr>
          <a:xfrm>
            <a:off x="103476" y="1733548"/>
            <a:ext cx="3579709" cy="2013003"/>
          </a:xfrm>
        </p:spPr>
      </p:pic>
      <p:pic>
        <p:nvPicPr>
          <p:cNvPr id="7" name="Imagen 6">
            <a:extLst>
              <a:ext uri="{FF2B5EF4-FFF2-40B4-BE49-F238E27FC236}">
                <a16:creationId xmlns:a16="http://schemas.microsoft.com/office/drawing/2014/main" id="{2F319C77-4124-4FCD-A731-A1D84C902317}"/>
              </a:ext>
            </a:extLst>
          </p:cNvPr>
          <p:cNvPicPr>
            <a:picLocks noChangeAspect="1"/>
          </p:cNvPicPr>
          <p:nvPr/>
        </p:nvPicPr>
        <p:blipFill>
          <a:blip r:embed="rId3"/>
          <a:stretch>
            <a:fillRect/>
          </a:stretch>
        </p:blipFill>
        <p:spPr>
          <a:xfrm>
            <a:off x="8094616" y="1733550"/>
            <a:ext cx="3583033" cy="2014872"/>
          </a:xfrm>
          <a:prstGeom prst="rect">
            <a:avLst/>
          </a:prstGeom>
        </p:spPr>
      </p:pic>
      <p:pic>
        <p:nvPicPr>
          <p:cNvPr id="9" name="Imagen 8">
            <a:extLst>
              <a:ext uri="{FF2B5EF4-FFF2-40B4-BE49-F238E27FC236}">
                <a16:creationId xmlns:a16="http://schemas.microsoft.com/office/drawing/2014/main" id="{715D9098-9C9E-4B58-AA3D-CA8F389876DE}"/>
              </a:ext>
            </a:extLst>
          </p:cNvPr>
          <p:cNvPicPr>
            <a:picLocks noChangeAspect="1"/>
          </p:cNvPicPr>
          <p:nvPr/>
        </p:nvPicPr>
        <p:blipFill>
          <a:blip r:embed="rId4"/>
          <a:stretch>
            <a:fillRect/>
          </a:stretch>
        </p:blipFill>
        <p:spPr>
          <a:xfrm>
            <a:off x="4097384" y="1733549"/>
            <a:ext cx="3583033" cy="2013003"/>
          </a:xfrm>
          <a:prstGeom prst="rect">
            <a:avLst/>
          </a:prstGeom>
        </p:spPr>
      </p:pic>
      <p:sp>
        <p:nvSpPr>
          <p:cNvPr id="3" name="CuadroTexto 2">
            <a:extLst>
              <a:ext uri="{FF2B5EF4-FFF2-40B4-BE49-F238E27FC236}">
                <a16:creationId xmlns:a16="http://schemas.microsoft.com/office/drawing/2014/main" id="{80D7D901-9DA0-4561-BBB4-8DD2233F49E0}"/>
              </a:ext>
            </a:extLst>
          </p:cNvPr>
          <p:cNvSpPr txBox="1"/>
          <p:nvPr/>
        </p:nvSpPr>
        <p:spPr>
          <a:xfrm>
            <a:off x="103476" y="3981450"/>
            <a:ext cx="2925474"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Creamos desde cero nuestra carpeta desde nuestro explorador de archivos, nos dirigimos al programa asignamos un nombre. Y empezamos desde cero </a:t>
            </a:r>
          </a:p>
        </p:txBody>
      </p:sp>
      <p:sp>
        <p:nvSpPr>
          <p:cNvPr id="8" name="CuadroTexto 7">
            <a:extLst>
              <a:ext uri="{FF2B5EF4-FFF2-40B4-BE49-F238E27FC236}">
                <a16:creationId xmlns:a16="http://schemas.microsoft.com/office/drawing/2014/main" id="{23264FDA-E54B-4153-8AEB-6FADDD9E1111}"/>
              </a:ext>
            </a:extLst>
          </p:cNvPr>
          <p:cNvSpPr txBox="1"/>
          <p:nvPr/>
        </p:nvSpPr>
        <p:spPr>
          <a:xfrm>
            <a:off x="4523076" y="4048125"/>
            <a:ext cx="2925474" cy="2585323"/>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Empezamos a codificar todo relacionado al tema para que al momento de ejecutar nuestro programa sea del tema.</a:t>
            </a:r>
          </a:p>
          <a:p>
            <a:pPr algn="just"/>
            <a:r>
              <a:rPr lang="es-MX" dirty="0">
                <a:latin typeface="Arial" panose="020B0604020202020204" pitchFamily="34" charset="0"/>
                <a:cs typeface="Arial" panose="020B0604020202020204" pitchFamily="34" charset="0"/>
              </a:rPr>
              <a:t>Al igual nos apoyamos con la IA para corregir pequeños fallos que existía en nuestro código.</a:t>
            </a:r>
          </a:p>
        </p:txBody>
      </p:sp>
      <p:sp>
        <p:nvSpPr>
          <p:cNvPr id="10" name="CuadroTexto 9">
            <a:extLst>
              <a:ext uri="{FF2B5EF4-FFF2-40B4-BE49-F238E27FC236}">
                <a16:creationId xmlns:a16="http://schemas.microsoft.com/office/drawing/2014/main" id="{9A220C93-098A-44E6-8A21-E8D23AAB914E}"/>
              </a:ext>
            </a:extLst>
          </p:cNvPr>
          <p:cNvSpPr txBox="1"/>
          <p:nvPr/>
        </p:nvSpPr>
        <p:spPr>
          <a:xfrm>
            <a:off x="8304501" y="4048125"/>
            <a:ext cx="2925474" cy="1754326"/>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Como parte final ejecutamos nuestro código, todo se ejecuta perfectamente bien sin errores esto gracias al código que creamos. </a:t>
            </a:r>
          </a:p>
        </p:txBody>
      </p:sp>
    </p:spTree>
    <p:extLst>
      <p:ext uri="{BB962C8B-B14F-4D97-AF65-F5344CB8AC3E}">
        <p14:creationId xmlns:p14="http://schemas.microsoft.com/office/powerpoint/2010/main" val="1618133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16CE7C-B98D-4C6A-BB5F-3EBD24C8F73A}"/>
              </a:ext>
            </a:extLst>
          </p:cNvPr>
          <p:cNvSpPr>
            <a:spLocks noGrp="1"/>
          </p:cNvSpPr>
          <p:nvPr>
            <p:ph type="title"/>
          </p:nvPr>
        </p:nvSpPr>
        <p:spPr/>
        <p:txBody>
          <a:bodyPr/>
          <a:lstStyle/>
          <a:p>
            <a:r>
              <a:rPr lang="es-MX" dirty="0"/>
              <a:t>Inventarios-Python</a:t>
            </a:r>
          </a:p>
        </p:txBody>
      </p:sp>
      <p:pic>
        <p:nvPicPr>
          <p:cNvPr id="9" name="Marcador de contenido 8">
            <a:extLst>
              <a:ext uri="{FF2B5EF4-FFF2-40B4-BE49-F238E27FC236}">
                <a16:creationId xmlns:a16="http://schemas.microsoft.com/office/drawing/2014/main" id="{A44FD101-2EB1-4473-AFD7-CC4CC5383D1E}"/>
              </a:ext>
            </a:extLst>
          </p:cNvPr>
          <p:cNvPicPr>
            <a:picLocks noGrp="1" noChangeAspect="1"/>
          </p:cNvPicPr>
          <p:nvPr>
            <p:ph idx="1"/>
          </p:nvPr>
        </p:nvPicPr>
        <p:blipFill>
          <a:blip r:embed="rId2"/>
          <a:stretch>
            <a:fillRect/>
          </a:stretch>
        </p:blipFill>
        <p:spPr>
          <a:xfrm>
            <a:off x="574547" y="2093976"/>
            <a:ext cx="3091400" cy="1738409"/>
          </a:xfrm>
        </p:spPr>
      </p:pic>
      <p:pic>
        <p:nvPicPr>
          <p:cNvPr id="11" name="Imagen 10">
            <a:extLst>
              <a:ext uri="{FF2B5EF4-FFF2-40B4-BE49-F238E27FC236}">
                <a16:creationId xmlns:a16="http://schemas.microsoft.com/office/drawing/2014/main" id="{C691D24C-A291-4943-A184-3CEA8BEC685A}"/>
              </a:ext>
            </a:extLst>
          </p:cNvPr>
          <p:cNvPicPr>
            <a:picLocks noChangeAspect="1"/>
          </p:cNvPicPr>
          <p:nvPr/>
        </p:nvPicPr>
        <p:blipFill>
          <a:blip r:embed="rId3"/>
          <a:stretch>
            <a:fillRect/>
          </a:stretch>
        </p:blipFill>
        <p:spPr>
          <a:xfrm>
            <a:off x="4440173" y="2170313"/>
            <a:ext cx="3181350" cy="1787332"/>
          </a:xfrm>
          <a:prstGeom prst="rect">
            <a:avLst/>
          </a:prstGeom>
        </p:spPr>
      </p:pic>
      <p:pic>
        <p:nvPicPr>
          <p:cNvPr id="13" name="Imagen 12">
            <a:extLst>
              <a:ext uri="{FF2B5EF4-FFF2-40B4-BE49-F238E27FC236}">
                <a16:creationId xmlns:a16="http://schemas.microsoft.com/office/drawing/2014/main" id="{8D0ED5F4-5CFD-49F6-B68E-053848B4BAEF}"/>
              </a:ext>
            </a:extLst>
          </p:cNvPr>
          <p:cNvPicPr>
            <a:picLocks noChangeAspect="1"/>
          </p:cNvPicPr>
          <p:nvPr/>
        </p:nvPicPr>
        <p:blipFill>
          <a:blip r:embed="rId4"/>
          <a:stretch>
            <a:fillRect/>
          </a:stretch>
        </p:blipFill>
        <p:spPr>
          <a:xfrm>
            <a:off x="8719599" y="2122688"/>
            <a:ext cx="3091401" cy="1738409"/>
          </a:xfrm>
          <a:prstGeom prst="rect">
            <a:avLst/>
          </a:prstGeom>
        </p:spPr>
      </p:pic>
      <p:sp>
        <p:nvSpPr>
          <p:cNvPr id="3" name="CuadroTexto 2">
            <a:extLst>
              <a:ext uri="{FF2B5EF4-FFF2-40B4-BE49-F238E27FC236}">
                <a16:creationId xmlns:a16="http://schemas.microsoft.com/office/drawing/2014/main" id="{3D8648B8-001C-4695-BB61-C1E00749EDA0}"/>
              </a:ext>
            </a:extLst>
          </p:cNvPr>
          <p:cNvSpPr txBox="1"/>
          <p:nvPr/>
        </p:nvSpPr>
        <p:spPr>
          <a:xfrm>
            <a:off x="574548" y="4195770"/>
            <a:ext cx="2590800" cy="2308324"/>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Creamos desde cero nuestra carpeta desde nuestro explorador de archivos, nos dirigimos al programa asignamos un nombre. Y empezamos desde cero.</a:t>
            </a:r>
          </a:p>
        </p:txBody>
      </p:sp>
      <p:sp>
        <p:nvSpPr>
          <p:cNvPr id="7" name="CuadroTexto 6">
            <a:extLst>
              <a:ext uri="{FF2B5EF4-FFF2-40B4-BE49-F238E27FC236}">
                <a16:creationId xmlns:a16="http://schemas.microsoft.com/office/drawing/2014/main" id="{905555A2-64D1-43ED-820F-B8C94C843F17}"/>
              </a:ext>
            </a:extLst>
          </p:cNvPr>
          <p:cNvSpPr txBox="1"/>
          <p:nvPr/>
        </p:nvSpPr>
        <p:spPr>
          <a:xfrm>
            <a:off x="4800600" y="4228184"/>
            <a:ext cx="2590800" cy="2308324"/>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Empezamos a escribir las funciones para calcular las compras, faltantes y costos. Con ayuda de la IA mejoramos algunas líneas para dejar el </a:t>
            </a:r>
            <a:r>
              <a:rPr lang="es-MX" dirty="0" err="1">
                <a:latin typeface="Arial" panose="020B0604020202020204" pitchFamily="34" charset="0"/>
                <a:cs typeface="Arial" panose="020B0604020202020204" pitchFamily="34" charset="0"/>
              </a:rPr>
              <a:t>codigo</a:t>
            </a:r>
            <a:r>
              <a:rPr lang="es-MX" dirty="0">
                <a:latin typeface="Arial" panose="020B0604020202020204" pitchFamily="34" charset="0"/>
                <a:cs typeface="Arial" panose="020B0604020202020204" pitchFamily="34" charset="0"/>
              </a:rPr>
              <a:t> sin fallos</a:t>
            </a:r>
          </a:p>
        </p:txBody>
      </p:sp>
      <p:sp>
        <p:nvSpPr>
          <p:cNvPr id="8" name="CuadroTexto 7">
            <a:extLst>
              <a:ext uri="{FF2B5EF4-FFF2-40B4-BE49-F238E27FC236}">
                <a16:creationId xmlns:a16="http://schemas.microsoft.com/office/drawing/2014/main" id="{5273D334-B16C-4528-A256-FAB3D4FF6D21}"/>
              </a:ext>
            </a:extLst>
          </p:cNvPr>
          <p:cNvSpPr txBox="1"/>
          <p:nvPr/>
        </p:nvSpPr>
        <p:spPr>
          <a:xfrm>
            <a:off x="8646049" y="4337714"/>
            <a:ext cx="2590800" cy="1754326"/>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Corrimos el programa y comprobamos que la interfaz cargara bien, mostrando los totales e indicadores del sistema de manera ordenada.</a:t>
            </a:r>
          </a:p>
        </p:txBody>
      </p:sp>
    </p:spTree>
    <p:extLst>
      <p:ext uri="{BB962C8B-B14F-4D97-AF65-F5344CB8AC3E}">
        <p14:creationId xmlns:p14="http://schemas.microsoft.com/office/powerpoint/2010/main" val="2270329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EB035B-77F4-43D8-BB2C-3CD56BDE8D52}"/>
              </a:ext>
            </a:extLst>
          </p:cNvPr>
          <p:cNvSpPr>
            <a:spLocks noGrp="1"/>
          </p:cNvSpPr>
          <p:nvPr>
            <p:ph type="title"/>
          </p:nvPr>
        </p:nvSpPr>
        <p:spPr>
          <a:xfrm>
            <a:off x="650748" y="684657"/>
            <a:ext cx="10058400" cy="1609344"/>
          </a:xfrm>
        </p:spPr>
        <p:txBody>
          <a:bodyPr/>
          <a:lstStyle/>
          <a:p>
            <a:r>
              <a:rPr lang="es-MX" dirty="0"/>
              <a:t>Pruebas paramétricas-Python</a:t>
            </a:r>
          </a:p>
        </p:txBody>
      </p:sp>
      <p:pic>
        <p:nvPicPr>
          <p:cNvPr id="5" name="Imagen 4">
            <a:extLst>
              <a:ext uri="{FF2B5EF4-FFF2-40B4-BE49-F238E27FC236}">
                <a16:creationId xmlns:a16="http://schemas.microsoft.com/office/drawing/2014/main" id="{C95BBA72-B9CC-4CE3-9D04-2ACB267FD47B}"/>
              </a:ext>
            </a:extLst>
          </p:cNvPr>
          <p:cNvPicPr>
            <a:picLocks noChangeAspect="1"/>
          </p:cNvPicPr>
          <p:nvPr/>
        </p:nvPicPr>
        <p:blipFill>
          <a:blip r:embed="rId2"/>
          <a:stretch>
            <a:fillRect/>
          </a:stretch>
        </p:blipFill>
        <p:spPr>
          <a:xfrm>
            <a:off x="240552" y="1960626"/>
            <a:ext cx="3417047" cy="1921532"/>
          </a:xfrm>
          <a:prstGeom prst="rect">
            <a:avLst/>
          </a:prstGeom>
        </p:spPr>
      </p:pic>
      <p:pic>
        <p:nvPicPr>
          <p:cNvPr id="7" name="Imagen 6">
            <a:extLst>
              <a:ext uri="{FF2B5EF4-FFF2-40B4-BE49-F238E27FC236}">
                <a16:creationId xmlns:a16="http://schemas.microsoft.com/office/drawing/2014/main" id="{E559CF43-A058-40C8-A502-B3CA3DB0E4EF}"/>
              </a:ext>
            </a:extLst>
          </p:cNvPr>
          <p:cNvPicPr>
            <a:picLocks noChangeAspect="1"/>
          </p:cNvPicPr>
          <p:nvPr/>
        </p:nvPicPr>
        <p:blipFill>
          <a:blip r:embed="rId3"/>
          <a:stretch>
            <a:fillRect/>
          </a:stretch>
        </p:blipFill>
        <p:spPr>
          <a:xfrm>
            <a:off x="4038876" y="1874901"/>
            <a:ext cx="3721933" cy="2092981"/>
          </a:xfrm>
          <a:prstGeom prst="rect">
            <a:avLst/>
          </a:prstGeom>
        </p:spPr>
      </p:pic>
      <p:pic>
        <p:nvPicPr>
          <p:cNvPr id="9" name="Imagen 8">
            <a:extLst>
              <a:ext uri="{FF2B5EF4-FFF2-40B4-BE49-F238E27FC236}">
                <a16:creationId xmlns:a16="http://schemas.microsoft.com/office/drawing/2014/main" id="{30A5B201-31EF-4680-88ED-EE6E70AF5598}"/>
              </a:ext>
            </a:extLst>
          </p:cNvPr>
          <p:cNvPicPr>
            <a:picLocks noChangeAspect="1"/>
          </p:cNvPicPr>
          <p:nvPr/>
        </p:nvPicPr>
        <p:blipFill>
          <a:blip r:embed="rId4"/>
          <a:stretch>
            <a:fillRect/>
          </a:stretch>
        </p:blipFill>
        <p:spPr>
          <a:xfrm>
            <a:off x="8018261" y="1843543"/>
            <a:ext cx="3721933" cy="2092981"/>
          </a:xfrm>
          <a:prstGeom prst="rect">
            <a:avLst/>
          </a:prstGeom>
        </p:spPr>
      </p:pic>
      <p:sp>
        <p:nvSpPr>
          <p:cNvPr id="8" name="CuadroTexto 7">
            <a:extLst>
              <a:ext uri="{FF2B5EF4-FFF2-40B4-BE49-F238E27FC236}">
                <a16:creationId xmlns:a16="http://schemas.microsoft.com/office/drawing/2014/main" id="{0C7714A9-D52E-4013-9B88-CF6180D6B6A9}"/>
              </a:ext>
            </a:extLst>
          </p:cNvPr>
          <p:cNvSpPr txBox="1"/>
          <p:nvPr/>
        </p:nvSpPr>
        <p:spPr>
          <a:xfrm>
            <a:off x="4038876" y="4142464"/>
            <a:ext cx="3417047" cy="1754326"/>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Desarrollamos las instrucciones en el código para calcular la media y la prueba . Usamos la ayuda de la IA para ajustar pequeñas fallas que no dejaban correr el script.</a:t>
            </a:r>
          </a:p>
        </p:txBody>
      </p:sp>
      <p:sp>
        <p:nvSpPr>
          <p:cNvPr id="11" name="CuadroTexto 10">
            <a:extLst>
              <a:ext uri="{FF2B5EF4-FFF2-40B4-BE49-F238E27FC236}">
                <a16:creationId xmlns:a16="http://schemas.microsoft.com/office/drawing/2014/main" id="{C76C618C-4422-4A55-A63E-2CF2E4108C38}"/>
              </a:ext>
            </a:extLst>
          </p:cNvPr>
          <p:cNvSpPr txBox="1"/>
          <p:nvPr/>
        </p:nvSpPr>
        <p:spPr>
          <a:xfrm>
            <a:off x="8170703" y="4080938"/>
            <a:ext cx="3417047" cy="1477328"/>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Corrimos el programa para comprobar que todo estuviera bien y nos desplegó los datos esperados y los resultados de la prueba sin ningún error.</a:t>
            </a:r>
          </a:p>
        </p:txBody>
      </p:sp>
      <p:sp>
        <p:nvSpPr>
          <p:cNvPr id="12" name="CuadroTexto 11">
            <a:extLst>
              <a:ext uri="{FF2B5EF4-FFF2-40B4-BE49-F238E27FC236}">
                <a16:creationId xmlns:a16="http://schemas.microsoft.com/office/drawing/2014/main" id="{FF762636-A9FA-4D2E-A14F-BBD20884B73C}"/>
              </a:ext>
            </a:extLst>
          </p:cNvPr>
          <p:cNvSpPr txBox="1"/>
          <p:nvPr/>
        </p:nvSpPr>
        <p:spPr>
          <a:xfrm>
            <a:off x="171726" y="4280963"/>
            <a:ext cx="3417047" cy="1477328"/>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Iniciamos creando el archivo de trabajo dentro de nuestra carpeta del proyecto, asignándole el nombre del tema de pruebas paramétricas.</a:t>
            </a:r>
          </a:p>
        </p:txBody>
      </p:sp>
    </p:spTree>
    <p:extLst>
      <p:ext uri="{BB962C8B-B14F-4D97-AF65-F5344CB8AC3E}">
        <p14:creationId xmlns:p14="http://schemas.microsoft.com/office/powerpoint/2010/main" val="1956660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4D4F7A-FDBB-41D1-958C-8DFF7D536226}"/>
              </a:ext>
            </a:extLst>
          </p:cNvPr>
          <p:cNvSpPr>
            <a:spLocks noGrp="1"/>
          </p:cNvSpPr>
          <p:nvPr>
            <p:ph type="title"/>
          </p:nvPr>
        </p:nvSpPr>
        <p:spPr/>
        <p:txBody>
          <a:bodyPr/>
          <a:lstStyle/>
          <a:p>
            <a:r>
              <a:rPr lang="es-MX" dirty="0"/>
              <a:t>Análisis reporte-Python</a:t>
            </a:r>
          </a:p>
        </p:txBody>
      </p:sp>
      <p:pic>
        <p:nvPicPr>
          <p:cNvPr id="5" name="Marcador de contenido 4">
            <a:extLst>
              <a:ext uri="{FF2B5EF4-FFF2-40B4-BE49-F238E27FC236}">
                <a16:creationId xmlns:a16="http://schemas.microsoft.com/office/drawing/2014/main" id="{46A39C1E-E351-43CA-8A3B-188D6493E939}"/>
              </a:ext>
            </a:extLst>
          </p:cNvPr>
          <p:cNvPicPr>
            <a:picLocks noGrp="1" noChangeAspect="1"/>
          </p:cNvPicPr>
          <p:nvPr>
            <p:ph idx="1"/>
          </p:nvPr>
        </p:nvPicPr>
        <p:blipFill>
          <a:blip r:embed="rId2"/>
          <a:stretch>
            <a:fillRect/>
          </a:stretch>
        </p:blipFill>
        <p:spPr>
          <a:xfrm>
            <a:off x="134540" y="2041668"/>
            <a:ext cx="3201327" cy="1800225"/>
          </a:xfrm>
        </p:spPr>
      </p:pic>
      <p:pic>
        <p:nvPicPr>
          <p:cNvPr id="7" name="Imagen 6">
            <a:extLst>
              <a:ext uri="{FF2B5EF4-FFF2-40B4-BE49-F238E27FC236}">
                <a16:creationId xmlns:a16="http://schemas.microsoft.com/office/drawing/2014/main" id="{4C83633C-E301-4F3D-9EC9-AB7BE66E2953}"/>
              </a:ext>
            </a:extLst>
          </p:cNvPr>
          <p:cNvPicPr>
            <a:picLocks noChangeAspect="1"/>
          </p:cNvPicPr>
          <p:nvPr/>
        </p:nvPicPr>
        <p:blipFill>
          <a:blip r:embed="rId3"/>
          <a:stretch>
            <a:fillRect/>
          </a:stretch>
        </p:blipFill>
        <p:spPr>
          <a:xfrm>
            <a:off x="4019549" y="1971304"/>
            <a:ext cx="3419475" cy="1922897"/>
          </a:xfrm>
          <a:prstGeom prst="rect">
            <a:avLst/>
          </a:prstGeom>
        </p:spPr>
      </p:pic>
      <p:pic>
        <p:nvPicPr>
          <p:cNvPr id="9" name="Imagen 8">
            <a:extLst>
              <a:ext uri="{FF2B5EF4-FFF2-40B4-BE49-F238E27FC236}">
                <a16:creationId xmlns:a16="http://schemas.microsoft.com/office/drawing/2014/main" id="{71FFF18A-29DE-43C9-9688-6E040088FC38}"/>
              </a:ext>
            </a:extLst>
          </p:cNvPr>
          <p:cNvPicPr>
            <a:picLocks noChangeAspect="1"/>
          </p:cNvPicPr>
          <p:nvPr/>
        </p:nvPicPr>
        <p:blipFill>
          <a:blip r:embed="rId4"/>
          <a:stretch>
            <a:fillRect/>
          </a:stretch>
        </p:blipFill>
        <p:spPr>
          <a:xfrm>
            <a:off x="8122706" y="1971304"/>
            <a:ext cx="3233436" cy="1818281"/>
          </a:xfrm>
          <a:prstGeom prst="rect">
            <a:avLst/>
          </a:prstGeom>
        </p:spPr>
      </p:pic>
      <p:sp>
        <p:nvSpPr>
          <p:cNvPr id="4" name="CuadroTexto 3">
            <a:extLst>
              <a:ext uri="{FF2B5EF4-FFF2-40B4-BE49-F238E27FC236}">
                <a16:creationId xmlns:a16="http://schemas.microsoft.com/office/drawing/2014/main" id="{2611CD78-1AE6-42E3-B37A-BE0E3D1F9A9F}"/>
              </a:ext>
            </a:extLst>
          </p:cNvPr>
          <p:cNvSpPr txBox="1"/>
          <p:nvPr/>
        </p:nvSpPr>
        <p:spPr>
          <a:xfrm>
            <a:off x="266700" y="4219575"/>
            <a:ext cx="2828925" cy="1754326"/>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Generamos nuestro último archivo en el editor para trabajar con el análisis de resultados, organizando todo desde el principio.</a:t>
            </a:r>
          </a:p>
        </p:txBody>
      </p:sp>
      <p:sp>
        <p:nvSpPr>
          <p:cNvPr id="8" name="CuadroTexto 7">
            <a:extLst>
              <a:ext uri="{FF2B5EF4-FFF2-40B4-BE49-F238E27FC236}">
                <a16:creationId xmlns:a16="http://schemas.microsoft.com/office/drawing/2014/main" id="{16EAC2DE-109E-426D-8D04-7A95634A7287}"/>
              </a:ext>
            </a:extLst>
          </p:cNvPr>
          <p:cNvSpPr txBox="1"/>
          <p:nvPr/>
        </p:nvSpPr>
        <p:spPr>
          <a:xfrm>
            <a:off x="4393254" y="4219575"/>
            <a:ext cx="2828925"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Escribimos el código encargado de procesar las réplicas y calcular los intervalos. Corregimos algunos detalles con apoyo de la IA para dejar la estructura limpia.</a:t>
            </a:r>
          </a:p>
        </p:txBody>
      </p:sp>
      <p:sp>
        <p:nvSpPr>
          <p:cNvPr id="10" name="CuadroTexto 9">
            <a:extLst>
              <a:ext uri="{FF2B5EF4-FFF2-40B4-BE49-F238E27FC236}">
                <a16:creationId xmlns:a16="http://schemas.microsoft.com/office/drawing/2014/main" id="{D375DF01-F008-4510-AC01-DAC90863FA68}"/>
              </a:ext>
            </a:extLst>
          </p:cNvPr>
          <p:cNvSpPr txBox="1"/>
          <p:nvPr/>
        </p:nvSpPr>
        <p:spPr>
          <a:xfrm>
            <a:off x="8519809" y="4219575"/>
            <a:ext cx="2828925" cy="1754326"/>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Lanzamos la ejecución final del código y verificamos que mostrara el reporte completo con los datos simulados funcionando al 100</a:t>
            </a:r>
          </a:p>
        </p:txBody>
      </p:sp>
    </p:spTree>
    <p:extLst>
      <p:ext uri="{BB962C8B-B14F-4D97-AF65-F5344CB8AC3E}">
        <p14:creationId xmlns:p14="http://schemas.microsoft.com/office/powerpoint/2010/main" val="1150031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1BABA7-B937-4631-B935-998884B0FB21}"/>
              </a:ext>
            </a:extLst>
          </p:cNvPr>
          <p:cNvSpPr>
            <a:spLocks noGrp="1"/>
          </p:cNvSpPr>
          <p:nvPr>
            <p:ph type="title"/>
          </p:nvPr>
        </p:nvSpPr>
        <p:spPr/>
        <p:txBody>
          <a:bodyPr/>
          <a:lstStyle/>
          <a:p>
            <a:r>
              <a:rPr lang="es-MX" dirty="0"/>
              <a:t>línea de esperas-r estudio</a:t>
            </a:r>
          </a:p>
        </p:txBody>
      </p:sp>
      <p:pic>
        <p:nvPicPr>
          <p:cNvPr id="5" name="Marcador de contenido 4">
            <a:extLst>
              <a:ext uri="{FF2B5EF4-FFF2-40B4-BE49-F238E27FC236}">
                <a16:creationId xmlns:a16="http://schemas.microsoft.com/office/drawing/2014/main" id="{7904FC0F-EA92-408A-8D47-89179832EA6E}"/>
              </a:ext>
            </a:extLst>
          </p:cNvPr>
          <p:cNvPicPr>
            <a:picLocks noGrp="1" noChangeAspect="1"/>
          </p:cNvPicPr>
          <p:nvPr>
            <p:ph idx="1"/>
          </p:nvPr>
        </p:nvPicPr>
        <p:blipFill>
          <a:blip r:embed="rId2"/>
          <a:stretch>
            <a:fillRect/>
          </a:stretch>
        </p:blipFill>
        <p:spPr>
          <a:xfrm>
            <a:off x="4567016" y="1891696"/>
            <a:ext cx="3568498" cy="2006699"/>
          </a:xfrm>
        </p:spPr>
      </p:pic>
      <p:pic>
        <p:nvPicPr>
          <p:cNvPr id="7" name="Imagen 6">
            <a:extLst>
              <a:ext uri="{FF2B5EF4-FFF2-40B4-BE49-F238E27FC236}">
                <a16:creationId xmlns:a16="http://schemas.microsoft.com/office/drawing/2014/main" id="{98C08115-7F41-43D8-BB47-91EA627FB452}"/>
              </a:ext>
            </a:extLst>
          </p:cNvPr>
          <p:cNvPicPr>
            <a:picLocks noChangeAspect="1"/>
          </p:cNvPicPr>
          <p:nvPr/>
        </p:nvPicPr>
        <p:blipFill>
          <a:blip r:embed="rId3"/>
          <a:stretch>
            <a:fillRect/>
          </a:stretch>
        </p:blipFill>
        <p:spPr>
          <a:xfrm>
            <a:off x="8486325" y="1922940"/>
            <a:ext cx="3512938" cy="1975455"/>
          </a:xfrm>
          <a:prstGeom prst="rect">
            <a:avLst/>
          </a:prstGeom>
        </p:spPr>
      </p:pic>
      <p:pic>
        <p:nvPicPr>
          <p:cNvPr id="9" name="Imagen 8">
            <a:extLst>
              <a:ext uri="{FF2B5EF4-FFF2-40B4-BE49-F238E27FC236}">
                <a16:creationId xmlns:a16="http://schemas.microsoft.com/office/drawing/2014/main" id="{548831BA-DE45-4ED3-85E4-E746AC2E4DC2}"/>
              </a:ext>
            </a:extLst>
          </p:cNvPr>
          <p:cNvPicPr>
            <a:picLocks noChangeAspect="1"/>
          </p:cNvPicPr>
          <p:nvPr/>
        </p:nvPicPr>
        <p:blipFill>
          <a:blip r:embed="rId4"/>
          <a:stretch>
            <a:fillRect/>
          </a:stretch>
        </p:blipFill>
        <p:spPr>
          <a:xfrm>
            <a:off x="368226" y="1784044"/>
            <a:ext cx="3962400" cy="2222003"/>
          </a:xfrm>
          <a:prstGeom prst="rect">
            <a:avLst/>
          </a:prstGeom>
        </p:spPr>
      </p:pic>
      <p:sp>
        <p:nvSpPr>
          <p:cNvPr id="3" name="CuadroTexto 2">
            <a:extLst>
              <a:ext uri="{FF2B5EF4-FFF2-40B4-BE49-F238E27FC236}">
                <a16:creationId xmlns:a16="http://schemas.microsoft.com/office/drawing/2014/main" id="{9E0FF56C-D664-467F-8F47-9477D1D8BC22}"/>
              </a:ext>
            </a:extLst>
          </p:cNvPr>
          <p:cNvSpPr txBox="1"/>
          <p:nvPr/>
        </p:nvSpPr>
        <p:spPr>
          <a:xfrm>
            <a:off x="368226" y="4300150"/>
            <a:ext cx="3857625" cy="1477328"/>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Comparando con los demás programas, R Estudios es muy diferente. Al igual empezamos desde cero generando un código y  codificamos</a:t>
            </a:r>
          </a:p>
        </p:txBody>
      </p:sp>
      <p:sp>
        <p:nvSpPr>
          <p:cNvPr id="8" name="CuadroTexto 7">
            <a:extLst>
              <a:ext uri="{FF2B5EF4-FFF2-40B4-BE49-F238E27FC236}">
                <a16:creationId xmlns:a16="http://schemas.microsoft.com/office/drawing/2014/main" id="{04BFAD9B-44F5-422A-917E-84D28729CC63}"/>
              </a:ext>
            </a:extLst>
          </p:cNvPr>
          <p:cNvSpPr txBox="1"/>
          <p:nvPr/>
        </p:nvSpPr>
        <p:spPr>
          <a:xfrm>
            <a:off x="5226591" y="4289851"/>
            <a:ext cx="2676975" cy="1754326"/>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Una vez ya iniciado, comenzamos a codificar y mejorar nuestro código para que no exista errores al momento de ejecutarlos</a:t>
            </a:r>
          </a:p>
        </p:txBody>
      </p:sp>
      <p:sp>
        <p:nvSpPr>
          <p:cNvPr id="10" name="CuadroTexto 9">
            <a:extLst>
              <a:ext uri="{FF2B5EF4-FFF2-40B4-BE49-F238E27FC236}">
                <a16:creationId xmlns:a16="http://schemas.microsoft.com/office/drawing/2014/main" id="{5F7E60B6-2063-4C09-A30E-BFB6C9742427}"/>
              </a:ext>
            </a:extLst>
          </p:cNvPr>
          <p:cNvSpPr txBox="1"/>
          <p:nvPr/>
        </p:nvSpPr>
        <p:spPr>
          <a:xfrm>
            <a:off x="8904306" y="3898395"/>
            <a:ext cx="2676975" cy="2585323"/>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Ya teniendo el código terminado ejecutamos nuestro programa y en un segundo muestra nuestra ventana para ingresar datos esto sucede gracias al código que generamos sin errores.</a:t>
            </a:r>
          </a:p>
        </p:txBody>
      </p:sp>
    </p:spTree>
    <p:extLst>
      <p:ext uri="{BB962C8B-B14F-4D97-AF65-F5344CB8AC3E}">
        <p14:creationId xmlns:p14="http://schemas.microsoft.com/office/powerpoint/2010/main" val="1176591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68B08B-D567-4C2B-AEC7-453AB38F38AC}"/>
              </a:ext>
            </a:extLst>
          </p:cNvPr>
          <p:cNvSpPr>
            <a:spLocks noGrp="1"/>
          </p:cNvSpPr>
          <p:nvPr>
            <p:ph type="title"/>
          </p:nvPr>
        </p:nvSpPr>
        <p:spPr/>
        <p:txBody>
          <a:bodyPr/>
          <a:lstStyle/>
          <a:p>
            <a:r>
              <a:rPr lang="es-MX" dirty="0"/>
              <a:t>Inventarios-r estudio</a:t>
            </a:r>
          </a:p>
        </p:txBody>
      </p:sp>
      <p:pic>
        <p:nvPicPr>
          <p:cNvPr id="5" name="Imagen 4">
            <a:extLst>
              <a:ext uri="{FF2B5EF4-FFF2-40B4-BE49-F238E27FC236}">
                <a16:creationId xmlns:a16="http://schemas.microsoft.com/office/drawing/2014/main" id="{85B6D67C-2413-477E-8804-64C0A6B89838}"/>
              </a:ext>
            </a:extLst>
          </p:cNvPr>
          <p:cNvPicPr>
            <a:picLocks noChangeAspect="1"/>
          </p:cNvPicPr>
          <p:nvPr/>
        </p:nvPicPr>
        <p:blipFill>
          <a:blip r:embed="rId2"/>
          <a:stretch>
            <a:fillRect/>
          </a:stretch>
        </p:blipFill>
        <p:spPr>
          <a:xfrm>
            <a:off x="271577" y="1869345"/>
            <a:ext cx="3583708" cy="2004035"/>
          </a:xfrm>
          <a:prstGeom prst="rect">
            <a:avLst/>
          </a:prstGeom>
        </p:spPr>
      </p:pic>
      <p:pic>
        <p:nvPicPr>
          <p:cNvPr id="7" name="Imagen 6">
            <a:extLst>
              <a:ext uri="{FF2B5EF4-FFF2-40B4-BE49-F238E27FC236}">
                <a16:creationId xmlns:a16="http://schemas.microsoft.com/office/drawing/2014/main" id="{53552A28-FA0E-413A-9797-048361FAA64F}"/>
              </a:ext>
            </a:extLst>
          </p:cNvPr>
          <p:cNvPicPr>
            <a:picLocks noChangeAspect="1"/>
          </p:cNvPicPr>
          <p:nvPr/>
        </p:nvPicPr>
        <p:blipFill>
          <a:blip r:embed="rId3"/>
          <a:stretch>
            <a:fillRect/>
          </a:stretch>
        </p:blipFill>
        <p:spPr>
          <a:xfrm>
            <a:off x="8336716" y="1888395"/>
            <a:ext cx="3721933" cy="2092981"/>
          </a:xfrm>
          <a:prstGeom prst="rect">
            <a:avLst/>
          </a:prstGeom>
        </p:spPr>
      </p:pic>
      <p:pic>
        <p:nvPicPr>
          <p:cNvPr id="9" name="Imagen 8">
            <a:extLst>
              <a:ext uri="{FF2B5EF4-FFF2-40B4-BE49-F238E27FC236}">
                <a16:creationId xmlns:a16="http://schemas.microsoft.com/office/drawing/2014/main" id="{15181981-40DF-497B-8DAD-CC34D39282D5}"/>
              </a:ext>
            </a:extLst>
          </p:cNvPr>
          <p:cNvPicPr>
            <a:picLocks noChangeAspect="1"/>
          </p:cNvPicPr>
          <p:nvPr/>
        </p:nvPicPr>
        <p:blipFill>
          <a:blip r:embed="rId4"/>
          <a:stretch>
            <a:fillRect/>
          </a:stretch>
        </p:blipFill>
        <p:spPr>
          <a:xfrm>
            <a:off x="4472310" y="1981660"/>
            <a:ext cx="3436695" cy="1932581"/>
          </a:xfrm>
          <a:prstGeom prst="rect">
            <a:avLst/>
          </a:prstGeom>
        </p:spPr>
      </p:pic>
      <p:sp>
        <p:nvSpPr>
          <p:cNvPr id="3" name="CuadroTexto 2">
            <a:extLst>
              <a:ext uri="{FF2B5EF4-FFF2-40B4-BE49-F238E27FC236}">
                <a16:creationId xmlns:a16="http://schemas.microsoft.com/office/drawing/2014/main" id="{B96AA867-A8D0-47CE-96FB-C85A2CDAB72B}"/>
              </a:ext>
            </a:extLst>
          </p:cNvPr>
          <p:cNvSpPr txBox="1"/>
          <p:nvPr/>
        </p:nvSpPr>
        <p:spPr>
          <a:xfrm>
            <a:off x="558481" y="3981376"/>
            <a:ext cx="3009900"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A diferencia de los otros entornos, en </a:t>
            </a:r>
            <a:r>
              <a:rPr lang="es-MX" dirty="0" err="1">
                <a:latin typeface="Arial" panose="020B0604020202020204" pitchFamily="34" charset="0"/>
                <a:cs typeface="Arial" panose="020B0604020202020204" pitchFamily="34" charset="0"/>
              </a:rPr>
              <a:t>RStudio</a:t>
            </a:r>
            <a:r>
              <a:rPr lang="es-MX" dirty="0">
                <a:latin typeface="Arial" panose="020B0604020202020204" pitchFamily="34" charset="0"/>
                <a:cs typeface="Arial" panose="020B0604020202020204" pitchFamily="34" charset="0"/>
              </a:rPr>
              <a:t> la forma de estructurar es distinta. Comenzamos a crear nuestro script desde cero en el editor guardando el archivo de inventarios.</a:t>
            </a:r>
          </a:p>
        </p:txBody>
      </p:sp>
      <p:sp>
        <p:nvSpPr>
          <p:cNvPr id="8" name="CuadroTexto 7">
            <a:extLst>
              <a:ext uri="{FF2B5EF4-FFF2-40B4-BE49-F238E27FC236}">
                <a16:creationId xmlns:a16="http://schemas.microsoft.com/office/drawing/2014/main" id="{89597B1A-F0D5-4F38-9D53-508AC95FC27E}"/>
              </a:ext>
            </a:extLst>
          </p:cNvPr>
          <p:cNvSpPr txBox="1"/>
          <p:nvPr/>
        </p:nvSpPr>
        <p:spPr>
          <a:xfrm>
            <a:off x="4591050" y="4090880"/>
            <a:ext cx="3009900"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Escribimos las funciones matemáticas para simular las órdenes y el inventario. Fuimos ajustando la sintaxis del código para evitar que salieran advertencias o fallas.</a:t>
            </a:r>
          </a:p>
        </p:txBody>
      </p:sp>
      <p:sp>
        <p:nvSpPr>
          <p:cNvPr id="10" name="CuadroTexto 9">
            <a:extLst>
              <a:ext uri="{FF2B5EF4-FFF2-40B4-BE49-F238E27FC236}">
                <a16:creationId xmlns:a16="http://schemas.microsoft.com/office/drawing/2014/main" id="{2153E678-B00B-4394-BF64-C9B8A55274A9}"/>
              </a:ext>
            </a:extLst>
          </p:cNvPr>
          <p:cNvSpPr txBox="1"/>
          <p:nvPr/>
        </p:nvSpPr>
        <p:spPr>
          <a:xfrm>
            <a:off x="8623619" y="4090880"/>
            <a:ext cx="3009900"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Una vez finalizado, ejecutamos el código completo y de inmediato se abrió la ventana flotante construida con </a:t>
            </a:r>
            <a:r>
              <a:rPr lang="es-MX" dirty="0" err="1">
                <a:latin typeface="Arial" panose="020B0604020202020204" pitchFamily="34" charset="0"/>
                <a:cs typeface="Arial" panose="020B0604020202020204" pitchFamily="34" charset="0"/>
              </a:rPr>
              <a:t>tcltk</a:t>
            </a:r>
            <a:r>
              <a:rPr lang="es-MX" dirty="0">
                <a:latin typeface="Arial" panose="020B0604020202020204" pitchFamily="34" charset="0"/>
                <a:cs typeface="Arial" panose="020B0604020202020204" pitchFamily="34" charset="0"/>
              </a:rPr>
              <a:t> para ingresar parámetros y revisar las métricas.</a:t>
            </a:r>
          </a:p>
        </p:txBody>
      </p:sp>
    </p:spTree>
    <p:extLst>
      <p:ext uri="{BB962C8B-B14F-4D97-AF65-F5344CB8AC3E}">
        <p14:creationId xmlns:p14="http://schemas.microsoft.com/office/powerpoint/2010/main" val="942007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B75031-2299-4089-B005-A5494B749F97}"/>
              </a:ext>
            </a:extLst>
          </p:cNvPr>
          <p:cNvSpPr>
            <a:spLocks noGrp="1"/>
          </p:cNvSpPr>
          <p:nvPr>
            <p:ph type="title"/>
          </p:nvPr>
        </p:nvSpPr>
        <p:spPr/>
        <p:txBody>
          <a:bodyPr/>
          <a:lstStyle/>
          <a:p>
            <a:r>
              <a:rPr lang="es-MX" dirty="0"/>
              <a:t>Pruebas paramétricas-r estudio</a:t>
            </a:r>
          </a:p>
        </p:txBody>
      </p:sp>
      <p:pic>
        <p:nvPicPr>
          <p:cNvPr id="5" name="Imagen 4">
            <a:extLst>
              <a:ext uri="{FF2B5EF4-FFF2-40B4-BE49-F238E27FC236}">
                <a16:creationId xmlns:a16="http://schemas.microsoft.com/office/drawing/2014/main" id="{B4EC2A9D-1BB0-49AE-B403-0926EA2F9AC5}"/>
              </a:ext>
            </a:extLst>
          </p:cNvPr>
          <p:cNvPicPr>
            <a:picLocks noChangeAspect="1"/>
          </p:cNvPicPr>
          <p:nvPr/>
        </p:nvPicPr>
        <p:blipFill>
          <a:blip r:embed="rId2"/>
          <a:stretch>
            <a:fillRect/>
          </a:stretch>
        </p:blipFill>
        <p:spPr>
          <a:xfrm>
            <a:off x="375416" y="2013776"/>
            <a:ext cx="3453634" cy="1942106"/>
          </a:xfrm>
          <a:prstGeom prst="rect">
            <a:avLst/>
          </a:prstGeom>
        </p:spPr>
      </p:pic>
      <p:pic>
        <p:nvPicPr>
          <p:cNvPr id="7" name="Imagen 6">
            <a:extLst>
              <a:ext uri="{FF2B5EF4-FFF2-40B4-BE49-F238E27FC236}">
                <a16:creationId xmlns:a16="http://schemas.microsoft.com/office/drawing/2014/main" id="{B0D5B9FD-3394-44AD-B44C-56F3D11191B6}"/>
              </a:ext>
            </a:extLst>
          </p:cNvPr>
          <p:cNvPicPr>
            <a:picLocks noChangeAspect="1"/>
          </p:cNvPicPr>
          <p:nvPr/>
        </p:nvPicPr>
        <p:blipFill>
          <a:blip r:embed="rId3"/>
          <a:stretch>
            <a:fillRect/>
          </a:stretch>
        </p:blipFill>
        <p:spPr>
          <a:xfrm>
            <a:off x="4757471" y="2102317"/>
            <a:ext cx="3296182" cy="1853565"/>
          </a:xfrm>
          <a:prstGeom prst="rect">
            <a:avLst/>
          </a:prstGeom>
        </p:spPr>
      </p:pic>
      <p:pic>
        <p:nvPicPr>
          <p:cNvPr id="9" name="Imagen 8">
            <a:extLst>
              <a:ext uri="{FF2B5EF4-FFF2-40B4-BE49-F238E27FC236}">
                <a16:creationId xmlns:a16="http://schemas.microsoft.com/office/drawing/2014/main" id="{1B32D9EA-9FAE-4562-8929-62D26DA1BDAD}"/>
              </a:ext>
            </a:extLst>
          </p:cNvPr>
          <p:cNvPicPr>
            <a:picLocks noChangeAspect="1"/>
          </p:cNvPicPr>
          <p:nvPr/>
        </p:nvPicPr>
        <p:blipFill>
          <a:blip r:embed="rId4"/>
          <a:stretch>
            <a:fillRect/>
          </a:stretch>
        </p:blipFill>
        <p:spPr>
          <a:xfrm>
            <a:off x="8848725" y="2075835"/>
            <a:ext cx="3343275" cy="1880047"/>
          </a:xfrm>
          <a:prstGeom prst="rect">
            <a:avLst/>
          </a:prstGeom>
        </p:spPr>
      </p:pic>
      <p:sp>
        <p:nvSpPr>
          <p:cNvPr id="3" name="CuadroTexto 2">
            <a:extLst>
              <a:ext uri="{FF2B5EF4-FFF2-40B4-BE49-F238E27FC236}">
                <a16:creationId xmlns:a16="http://schemas.microsoft.com/office/drawing/2014/main" id="{B8CD6CA2-65F8-4A45-BF41-1965249B4DD4}"/>
              </a:ext>
            </a:extLst>
          </p:cNvPr>
          <p:cNvSpPr txBox="1"/>
          <p:nvPr/>
        </p:nvSpPr>
        <p:spPr>
          <a:xfrm>
            <a:off x="762000" y="4216081"/>
            <a:ext cx="2781300"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Abrimos un nuevo documento de código en </a:t>
            </a:r>
            <a:r>
              <a:rPr lang="es-MX" dirty="0" err="1">
                <a:latin typeface="Arial" panose="020B0604020202020204" pitchFamily="34" charset="0"/>
                <a:cs typeface="Arial" panose="020B0604020202020204" pitchFamily="34" charset="0"/>
              </a:rPr>
              <a:t>RStudio</a:t>
            </a:r>
            <a:r>
              <a:rPr lang="es-MX" dirty="0">
                <a:latin typeface="Arial" panose="020B0604020202020204" pitchFamily="34" charset="0"/>
                <a:cs typeface="Arial" panose="020B0604020202020204" pitchFamily="34" charset="0"/>
              </a:rPr>
              <a:t> asignado a las pruebas estadísticas, notando lo ágil que es R para manejar datos numéricos.</a:t>
            </a:r>
          </a:p>
        </p:txBody>
      </p:sp>
      <p:sp>
        <p:nvSpPr>
          <p:cNvPr id="8" name="CuadroTexto 7">
            <a:extLst>
              <a:ext uri="{FF2B5EF4-FFF2-40B4-BE49-F238E27FC236}">
                <a16:creationId xmlns:a16="http://schemas.microsoft.com/office/drawing/2014/main" id="{2F6F383E-5F18-47B2-A1E4-E72F8EA14C6E}"/>
              </a:ext>
            </a:extLst>
          </p:cNvPr>
          <p:cNvSpPr txBox="1"/>
          <p:nvPr/>
        </p:nvSpPr>
        <p:spPr>
          <a:xfrm>
            <a:off x="4757471" y="4342042"/>
            <a:ext cx="2781300"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Abrimos un nuevo documento de código en </a:t>
            </a:r>
            <a:r>
              <a:rPr lang="es-MX" dirty="0" err="1">
                <a:latin typeface="Arial" panose="020B0604020202020204" pitchFamily="34" charset="0"/>
                <a:cs typeface="Arial" panose="020B0604020202020204" pitchFamily="34" charset="0"/>
              </a:rPr>
              <a:t>RStudio</a:t>
            </a:r>
            <a:r>
              <a:rPr lang="es-MX" dirty="0">
                <a:latin typeface="Arial" panose="020B0604020202020204" pitchFamily="34" charset="0"/>
                <a:cs typeface="Arial" panose="020B0604020202020204" pitchFamily="34" charset="0"/>
              </a:rPr>
              <a:t> asignado a las pruebas estadísticas, notando lo ágil que es R para manejar datos numéricos.</a:t>
            </a:r>
          </a:p>
        </p:txBody>
      </p:sp>
      <p:sp>
        <p:nvSpPr>
          <p:cNvPr id="10" name="CuadroTexto 9">
            <a:extLst>
              <a:ext uri="{FF2B5EF4-FFF2-40B4-BE49-F238E27FC236}">
                <a16:creationId xmlns:a16="http://schemas.microsoft.com/office/drawing/2014/main" id="{D977BA6E-D8E2-434E-8B36-3CC947C41756}"/>
              </a:ext>
            </a:extLst>
          </p:cNvPr>
          <p:cNvSpPr txBox="1"/>
          <p:nvPr/>
        </p:nvSpPr>
        <p:spPr>
          <a:xfrm>
            <a:off x="8629652" y="4216080"/>
            <a:ext cx="2781300"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Corrimos la aplicación y confirmamos que la pantalla de usuario funcionara a la perfección, calculando el valor y el resultado final sin fallos.</a:t>
            </a:r>
          </a:p>
        </p:txBody>
      </p:sp>
    </p:spTree>
    <p:extLst>
      <p:ext uri="{BB962C8B-B14F-4D97-AF65-F5344CB8AC3E}">
        <p14:creationId xmlns:p14="http://schemas.microsoft.com/office/powerpoint/2010/main" val="654494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DB8D51-DC3E-42E7-8670-7B07DF5A41FE}"/>
              </a:ext>
            </a:extLst>
          </p:cNvPr>
          <p:cNvSpPr>
            <a:spLocks noGrp="1"/>
          </p:cNvSpPr>
          <p:nvPr>
            <p:ph type="title"/>
          </p:nvPr>
        </p:nvSpPr>
        <p:spPr/>
        <p:txBody>
          <a:bodyPr/>
          <a:lstStyle/>
          <a:p>
            <a:r>
              <a:rPr lang="es-MX" dirty="0"/>
              <a:t>Análisis reporte-r estudio</a:t>
            </a:r>
          </a:p>
        </p:txBody>
      </p:sp>
      <p:pic>
        <p:nvPicPr>
          <p:cNvPr id="5" name="Marcador de contenido 4">
            <a:extLst>
              <a:ext uri="{FF2B5EF4-FFF2-40B4-BE49-F238E27FC236}">
                <a16:creationId xmlns:a16="http://schemas.microsoft.com/office/drawing/2014/main" id="{3EA6A279-FBB5-4714-A6F3-92D7A4853664}"/>
              </a:ext>
            </a:extLst>
          </p:cNvPr>
          <p:cNvPicPr>
            <a:picLocks noGrp="1" noChangeAspect="1"/>
          </p:cNvPicPr>
          <p:nvPr>
            <p:ph idx="1"/>
          </p:nvPr>
        </p:nvPicPr>
        <p:blipFill>
          <a:blip r:embed="rId2"/>
          <a:stretch>
            <a:fillRect/>
          </a:stretch>
        </p:blipFill>
        <p:spPr>
          <a:xfrm>
            <a:off x="428625" y="2206489"/>
            <a:ext cx="3986374" cy="2241686"/>
          </a:xfrm>
        </p:spPr>
      </p:pic>
      <p:pic>
        <p:nvPicPr>
          <p:cNvPr id="7" name="Imagen 6">
            <a:extLst>
              <a:ext uri="{FF2B5EF4-FFF2-40B4-BE49-F238E27FC236}">
                <a16:creationId xmlns:a16="http://schemas.microsoft.com/office/drawing/2014/main" id="{11E38CF3-1360-47FD-88A4-45921B45A4AF}"/>
              </a:ext>
            </a:extLst>
          </p:cNvPr>
          <p:cNvPicPr>
            <a:picLocks noChangeAspect="1"/>
          </p:cNvPicPr>
          <p:nvPr/>
        </p:nvPicPr>
        <p:blipFill>
          <a:blip r:embed="rId3"/>
          <a:stretch>
            <a:fillRect/>
          </a:stretch>
        </p:blipFill>
        <p:spPr>
          <a:xfrm>
            <a:off x="4714875" y="2238128"/>
            <a:ext cx="3714750" cy="2073439"/>
          </a:xfrm>
          <a:prstGeom prst="rect">
            <a:avLst/>
          </a:prstGeom>
        </p:spPr>
      </p:pic>
      <p:pic>
        <p:nvPicPr>
          <p:cNvPr id="9" name="Imagen 8">
            <a:extLst>
              <a:ext uri="{FF2B5EF4-FFF2-40B4-BE49-F238E27FC236}">
                <a16:creationId xmlns:a16="http://schemas.microsoft.com/office/drawing/2014/main" id="{7005C84B-D485-4AC0-B0EE-566388963C28}"/>
              </a:ext>
            </a:extLst>
          </p:cNvPr>
          <p:cNvPicPr>
            <a:picLocks noChangeAspect="1"/>
          </p:cNvPicPr>
          <p:nvPr/>
        </p:nvPicPr>
        <p:blipFill>
          <a:blip r:embed="rId4"/>
          <a:stretch>
            <a:fillRect/>
          </a:stretch>
        </p:blipFill>
        <p:spPr>
          <a:xfrm>
            <a:off x="8882540" y="2374734"/>
            <a:ext cx="3174608" cy="1800225"/>
          </a:xfrm>
          <a:prstGeom prst="rect">
            <a:avLst/>
          </a:prstGeom>
        </p:spPr>
      </p:pic>
      <p:sp>
        <p:nvSpPr>
          <p:cNvPr id="3" name="CuadroTexto 2">
            <a:extLst>
              <a:ext uri="{FF2B5EF4-FFF2-40B4-BE49-F238E27FC236}">
                <a16:creationId xmlns:a16="http://schemas.microsoft.com/office/drawing/2014/main" id="{3C31A553-5F24-4DE9-B5E0-24C6AFCD2277}"/>
              </a:ext>
            </a:extLst>
          </p:cNvPr>
          <p:cNvSpPr txBox="1"/>
          <p:nvPr/>
        </p:nvSpPr>
        <p:spPr>
          <a:xfrm>
            <a:off x="666750" y="4962525"/>
            <a:ext cx="3171825" cy="923330"/>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Creamos nuestro ultimo proyecto, generamos el </a:t>
            </a:r>
            <a:r>
              <a:rPr lang="es-MX" dirty="0" err="1">
                <a:latin typeface="Arial" panose="020B0604020202020204" pitchFamily="34" charset="0"/>
                <a:cs typeface="Arial" panose="020B0604020202020204" pitchFamily="34" charset="0"/>
              </a:rPr>
              <a:t>codigo</a:t>
            </a:r>
            <a:endParaRPr lang="es-MX" dirty="0"/>
          </a:p>
        </p:txBody>
      </p:sp>
      <p:sp>
        <p:nvSpPr>
          <p:cNvPr id="8" name="CuadroTexto 7">
            <a:extLst>
              <a:ext uri="{FF2B5EF4-FFF2-40B4-BE49-F238E27FC236}">
                <a16:creationId xmlns:a16="http://schemas.microsoft.com/office/drawing/2014/main" id="{201F888B-0FE0-4880-B432-D4216D64AFB5}"/>
              </a:ext>
            </a:extLst>
          </p:cNvPr>
          <p:cNvSpPr txBox="1"/>
          <p:nvPr/>
        </p:nvSpPr>
        <p:spPr>
          <a:xfrm>
            <a:off x="4714875" y="4764025"/>
            <a:ext cx="3171825" cy="1200329"/>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Codificamos la estructura que llevara nuestro programa para que funcione correctamente bien.</a:t>
            </a:r>
            <a:endParaRPr lang="es-MX" dirty="0"/>
          </a:p>
        </p:txBody>
      </p:sp>
      <p:sp>
        <p:nvSpPr>
          <p:cNvPr id="10" name="CuadroTexto 9">
            <a:extLst>
              <a:ext uri="{FF2B5EF4-FFF2-40B4-BE49-F238E27FC236}">
                <a16:creationId xmlns:a16="http://schemas.microsoft.com/office/drawing/2014/main" id="{E47A027A-73F2-4065-9FAE-449C50D676F0}"/>
              </a:ext>
            </a:extLst>
          </p:cNvPr>
          <p:cNvSpPr txBox="1"/>
          <p:nvPr/>
        </p:nvSpPr>
        <p:spPr>
          <a:xfrm>
            <a:off x="8885323" y="4408527"/>
            <a:ext cx="3171825" cy="2031325"/>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Como parte final ejecutamos nuestro código que se ve en la imagen, nos muestra el apartado donde nos pide que ingresemos datos y proporciona un resultado final </a:t>
            </a:r>
            <a:endParaRPr lang="es-MX" dirty="0"/>
          </a:p>
        </p:txBody>
      </p:sp>
    </p:spTree>
    <p:extLst>
      <p:ext uri="{BB962C8B-B14F-4D97-AF65-F5344CB8AC3E}">
        <p14:creationId xmlns:p14="http://schemas.microsoft.com/office/powerpoint/2010/main" val="2650536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60228F-D789-4A9C-A88D-A3FD515B526B}"/>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2B56A935-BFE5-479B-890A-62C5DE4D2CA0}"/>
              </a:ext>
            </a:extLst>
          </p:cNvPr>
          <p:cNvSpPr>
            <a:spLocks noGrp="1"/>
          </p:cNvSpPr>
          <p:nvPr>
            <p:ph idx="1"/>
          </p:nvPr>
        </p:nvSpPr>
        <p:spPr>
          <a:xfrm>
            <a:off x="1066800" y="2093976"/>
            <a:ext cx="10058400" cy="4050792"/>
          </a:xfrm>
        </p:spPr>
        <p:txBody>
          <a:bodyPr/>
          <a:lstStyle/>
          <a:p>
            <a:pPr algn="just"/>
            <a:r>
              <a:rPr lang="es-MX" dirty="0">
                <a:latin typeface="Arial" panose="020B0604020202020204" pitchFamily="34" charset="0"/>
                <a:cs typeface="Arial" panose="020B0604020202020204" pitchFamily="34" charset="0"/>
              </a:rPr>
              <a:t>Al finalizar el proyecto logramos cumplir con la meta de ejecutar todos los programas correctamente en las tres plataformas. Comprobamos que cada lenguaje tiene su forma de trabajar, pero al final todos nos permitieron capturar los datos requeridos e imprimir los resultados de las simulaciones sin fallas.</a:t>
            </a:r>
          </a:p>
        </p:txBody>
      </p:sp>
    </p:spTree>
    <p:extLst>
      <p:ext uri="{BB962C8B-B14F-4D97-AF65-F5344CB8AC3E}">
        <p14:creationId xmlns:p14="http://schemas.microsoft.com/office/powerpoint/2010/main" val="4072234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1F80D3-BACB-4737-BC51-E118DCADAA50}"/>
              </a:ext>
            </a:extLst>
          </p:cNvPr>
          <p:cNvSpPr>
            <a:spLocks noGrp="1"/>
          </p:cNvSpPr>
          <p:nvPr>
            <p:ph type="title"/>
          </p:nvPr>
        </p:nvSpPr>
        <p:spPr/>
        <p:txBody>
          <a:bodyPr/>
          <a:lstStyle/>
          <a:p>
            <a:r>
              <a:rPr lang="es-MX" dirty="0"/>
              <a:t>Anexo enlace </a:t>
            </a:r>
            <a:r>
              <a:rPr lang="es-MX" dirty="0" err="1"/>
              <a:t>git</a:t>
            </a:r>
            <a:endParaRPr lang="es-MX" dirty="0"/>
          </a:p>
        </p:txBody>
      </p:sp>
      <p:sp>
        <p:nvSpPr>
          <p:cNvPr id="3" name="Marcador de contenido 2">
            <a:extLst>
              <a:ext uri="{FF2B5EF4-FFF2-40B4-BE49-F238E27FC236}">
                <a16:creationId xmlns:a16="http://schemas.microsoft.com/office/drawing/2014/main" id="{2F2E2F6D-0445-452D-B09B-E5C306AFF6A8}"/>
              </a:ext>
            </a:extLst>
          </p:cNvPr>
          <p:cNvSpPr>
            <a:spLocks noGrp="1"/>
          </p:cNvSpPr>
          <p:nvPr>
            <p:ph idx="1"/>
          </p:nvPr>
        </p:nvSpPr>
        <p:spPr/>
        <p:txBody>
          <a:bodyPr/>
          <a:lstStyle/>
          <a:p>
            <a:endParaRPr lang="es-MX" dirty="0"/>
          </a:p>
        </p:txBody>
      </p:sp>
    </p:spTree>
    <p:extLst>
      <p:ext uri="{BB962C8B-B14F-4D97-AF65-F5344CB8AC3E}">
        <p14:creationId xmlns:p14="http://schemas.microsoft.com/office/powerpoint/2010/main" val="21541292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etras en madera">
  <a:themeElements>
    <a:clrScheme name="Letras en madera">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Letras en madera">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Letras en madera">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TM03090434[[fn=Letras en madera]]</Template>
  <TotalTime>388</TotalTime>
  <Words>1250</Words>
  <Application>Microsoft Office PowerPoint</Application>
  <PresentationFormat>Panorámica</PresentationFormat>
  <Paragraphs>81</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Rockwell</vt:lpstr>
      <vt:lpstr>Rockwell Condensed</vt:lpstr>
      <vt:lpstr>Wingdings</vt:lpstr>
      <vt:lpstr>Letras en madera</vt:lpstr>
      <vt:lpstr>Presentación de PowerPoint</vt:lpstr>
      <vt:lpstr>Introducción </vt:lpstr>
      <vt:lpstr>Justificación </vt:lpstr>
      <vt:lpstr>Temas </vt:lpstr>
      <vt:lpstr>línea de esperas-java </vt:lpstr>
      <vt:lpstr>Inventarios-java</vt:lpstr>
      <vt:lpstr>Pruebas paramétricas-java</vt:lpstr>
      <vt:lpstr>Análisis reporte-java</vt:lpstr>
      <vt:lpstr>línea de esperas-Python </vt:lpstr>
      <vt:lpstr>Inventarios-Python</vt:lpstr>
      <vt:lpstr>Pruebas paramétricas-Python</vt:lpstr>
      <vt:lpstr>Análisis reporte-Python</vt:lpstr>
      <vt:lpstr>línea de esperas-r estudio</vt:lpstr>
      <vt:lpstr>Inventarios-r estudio</vt:lpstr>
      <vt:lpstr>Pruebas paramétricas-r estudio</vt:lpstr>
      <vt:lpstr>Análisis reporte-r estudio</vt:lpstr>
      <vt:lpstr>Conclusión </vt:lpstr>
      <vt:lpstr>Anexo enlace git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Brayan</dc:creator>
  <cp:lastModifiedBy>Brayan</cp:lastModifiedBy>
  <cp:revision>31</cp:revision>
  <dcterms:created xsi:type="dcterms:W3CDTF">2026-10-02T00:48:49Z</dcterms:created>
  <dcterms:modified xsi:type="dcterms:W3CDTF">2026-10-05T03:33:51Z</dcterms:modified>
</cp:coreProperties>
</file>